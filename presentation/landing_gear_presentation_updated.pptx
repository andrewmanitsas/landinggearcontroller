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295395096844e9" /><Relationship Type="http://schemas.openxmlformats.org/officeDocument/2006/relationships/extended-properties" Target="/docProps/app.xml" Id="R5a46ee35459c48ab" /><Relationship Type="http://schemas.openxmlformats.org/officeDocument/2006/relationships/officeDocument" Target="/ppt/presentation.xml" Id="R876eba1b4ba44a37" /></Relationships>
</file>

<file path=ppt/presentation.xml><?xml version="1.0" encoding="utf-8"?>
<p:presentation xmlns:p="http://schemas.openxmlformats.org/presentationml/2006/main">
  <p:sldMasterIdLst>
    <p:sldMasterId xmlns:r="http://schemas.openxmlformats.org/officeDocument/2006/relationships" id="2147483648" r:id="R798cde5eb14a435a"/>
  </p:sldMasterIdLst>
  <p:notesMasterIdLst>
    <p:notesMasterId xmlns:r="http://schemas.openxmlformats.org/officeDocument/2006/relationships" r:id="R4fb16f984a544eed"/>
  </p:notesMasterIdLst>
  <p:sldIdLst>
    <p:sldId xmlns:r="http://schemas.openxmlformats.org/officeDocument/2006/relationships" id="256" r:id="R823911ae714a4ccc"/>
    <p:sldId xmlns:r="http://schemas.openxmlformats.org/officeDocument/2006/relationships" id="257" r:id="Ra78d1a0a4c324c37"/>
    <p:sldId xmlns:r="http://schemas.openxmlformats.org/officeDocument/2006/relationships" id="258" r:id="R9bb235d4897c42ff"/>
    <p:sldId xmlns:r="http://schemas.openxmlformats.org/officeDocument/2006/relationships" id="259" r:id="R4d7b0e47cebb4837"/>
    <p:sldId xmlns:r="http://schemas.openxmlformats.org/officeDocument/2006/relationships" id="260" r:id="Rf64d084da02b4bb2"/>
    <p:sldId xmlns:r="http://schemas.openxmlformats.org/officeDocument/2006/relationships" id="261" r:id="R8c4dee87c4d84665"/>
    <p:sldId xmlns:r="http://schemas.openxmlformats.org/officeDocument/2006/relationships" id="262" r:id="Rf459aa28e52e4d14"/>
    <p:sldId xmlns:r="http://schemas.openxmlformats.org/officeDocument/2006/relationships" id="263" r:id="R9575ca56a79b4a70"/>
    <p:sldId xmlns:r="http://schemas.openxmlformats.org/officeDocument/2006/relationships" id="264" r:id="R74920378ef2f46cc"/>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f74cd7700da455b" /><Relationship Type="http://schemas.openxmlformats.org/officeDocument/2006/relationships/slideMaster" Target="/ppt/slideMasters/slideMaster1.xml" Id="R798cde5eb14a435a" /><Relationship Type="http://schemas.openxmlformats.org/officeDocument/2006/relationships/notesMaster" Target="/ppt/notesMasters/notesMaster1.xml" Id="R4fb16f984a544eed" /><Relationship Type="http://schemas.openxmlformats.org/officeDocument/2006/relationships/presProps" Target="/ppt/presProps.xml" Id="Ra37886439bc74d9b" /><Relationship Type="http://schemas.openxmlformats.org/officeDocument/2006/relationships/viewProps" Target="/ppt/viewProps.xml" Id="R58deaafc57894430" /><Relationship Type="http://schemas.openxmlformats.org/officeDocument/2006/relationships/tableStyles" Target="/ppt/tableStyles.xml" Id="R1d0f76f403214298" /><Relationship Type="http://schemas.openxmlformats.org/officeDocument/2006/relationships/slide" Target="/ppt/slides/slide1.xml" Id="R823911ae714a4ccc" /><Relationship Type="http://schemas.openxmlformats.org/officeDocument/2006/relationships/slide" Target="/ppt/slides/slide2.xml" Id="Ra78d1a0a4c324c37" /><Relationship Type="http://schemas.openxmlformats.org/officeDocument/2006/relationships/slide" Target="/ppt/slides/slide3.xml" Id="R9bb235d4897c42ff" /><Relationship Type="http://schemas.openxmlformats.org/officeDocument/2006/relationships/slide" Target="/ppt/slides/slide4.xml" Id="R4d7b0e47cebb4837" /><Relationship Type="http://schemas.openxmlformats.org/officeDocument/2006/relationships/slide" Target="/ppt/slides/slide5.xml" Id="Rf64d084da02b4bb2" /><Relationship Type="http://schemas.openxmlformats.org/officeDocument/2006/relationships/slide" Target="/ppt/slides/slide6.xml" Id="R8c4dee87c4d84665" /><Relationship Type="http://schemas.openxmlformats.org/officeDocument/2006/relationships/slide" Target="/ppt/slides/slide7.xml" Id="Rf459aa28e52e4d14" /><Relationship Type="http://schemas.openxmlformats.org/officeDocument/2006/relationships/slide" Target="/ppt/slides/slide8.xml" Id="R9575ca56a79b4a70" /><Relationship Type="http://schemas.openxmlformats.org/officeDocument/2006/relationships/slide" Target="/ppt/slides/slide9.xml" Id="R74920378ef2f46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c8ca82dbfd42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andingGear">
  <a:themeElements>
    <a:clrScheme name="LandingGear">
      <a:dk1>
        <a:srgbClr val="0B1F2A"/>
      </a:dk1>
      <a:lt1>
        <a:srgbClr val="FFFFFF"/>
      </a:lt1>
      <a:dk2>
        <a:srgbClr val="12384A"/>
      </a:dk2>
      <a:lt2>
        <a:srgbClr val="EAF1F4"/>
      </a:lt2>
      <a:accent1>
        <a:srgbClr val="F2A541"/>
      </a:accent1>
      <a:accent2>
        <a:srgbClr val="1F7A8C"/>
      </a:accent2>
      <a:accent3>
        <a:srgbClr val="C8553D"/>
      </a:accent3>
      <a:accent4>
        <a:srgbClr val="4E8F6E"/>
      </a:accent4>
      <a:accent5>
        <a:srgbClr val="8AA6B1"/>
      </a:accent5>
      <a:accent6>
        <a:srgbClr val="3D5A6C"/>
      </a:accent6>
      <a:hlink>
        <a:srgbClr val="1F7A8C"/>
      </a:hlink>
      <a:folHlink>
        <a:srgbClr val="3D5A6C"/>
      </a:folHlink>
    </a:clrScheme>
    <a:fontScheme name="LandingGe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LandingGear">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ec3c6bea9a4626" /><Relationship Type="http://schemas.openxmlformats.org/officeDocument/2006/relationships/notesMaster" Target="/ppt/notesMasters/notesMaster1.xml" Id="R81edf9c1fce344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d80618940c499b" /><Relationship Type="http://schemas.openxmlformats.org/officeDocument/2006/relationships/notesMaster" Target="/ppt/notesMasters/notesMaster1.xml" Id="Re25b51f0a5e74f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b190b5f7ad49fb" /><Relationship Type="http://schemas.openxmlformats.org/officeDocument/2006/relationships/notesMaster" Target="/ppt/notesMasters/notesMaster1.xml" Id="R287ddce1cde34c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9b3ca6e01843f6" /><Relationship Type="http://schemas.openxmlformats.org/officeDocument/2006/relationships/notesMaster" Target="/ppt/notesMasters/notesMaster1.xml" Id="R98c2e565947648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3ea4e9e9e84c9e" /><Relationship Type="http://schemas.openxmlformats.org/officeDocument/2006/relationships/notesMaster" Target="/ppt/notesMasters/notesMaster1.xml" Id="Ra3ed967bef2447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30a30ec7f946dc" /><Relationship Type="http://schemas.openxmlformats.org/officeDocument/2006/relationships/notesMaster" Target="/ppt/notesMasters/notesMaster1.xml" Id="R97cfae02e2ae4d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2cf201c0c74a76" /><Relationship Type="http://schemas.openxmlformats.org/officeDocument/2006/relationships/notesMaster" Target="/ppt/notesMasters/notesMaster1.xml" Id="Rd1d34dcacf3e40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3700ab3d7d4c37" /><Relationship Type="http://schemas.openxmlformats.org/officeDocument/2006/relationships/notesMaster" Target="/ppt/notesMasters/notesMaster1.xml" Id="R9349b5af04c84b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ffdb72b1994658" /><Relationship Type="http://schemas.openxmlformats.org/officeDocument/2006/relationships/notesMaster" Target="/ppt/notesMasters/notesMaster1.xml" Id="R539cbfffdea445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two separate implementations of the same course idea. The simulation explores the broader concept. The Arduino implementation tests a smaller subset with physical sensors and virtual commands. Sources: LandingGearSystem/README.md; firmware/LandingGearController/LandingGearController.ino; tools/IMU.py. Hardware checks reflect the demonstrated bench setup, not aircraft validation. Sources: https://github.com/AndrewManitsas/LandingGearController; src/sensing_domain/src/sensor_processor.cpp; src/intelligence_domain/include/intelligence_domain/model_rules.hpp; src/control_domain/src/flight_supervisor.cpp; src/control_domain/src/landing_gear_controller.cpp.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READY means the configured bench conditions passed. It is not a general terrain-safety classification. No physical actuator output is enabled. Sources: LandingGearSystem/README.md; firmware/LandingGearController/LandingGearController.ino; tools/IMU.py. Hardware checks reflect the demonstrated bench setup, not aircraft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ROS nodes run on the simulation host. The original physical targets were Pico 2 W for sensing, Pi Zero W for intelligence and Uno for control. The current hardware repo puts acquisition and rule-based decisions on the Uno. Simulation sensing extracts seven features: mean ToF, spatial variance, acoustic-optical difference and its variance, slope, gyro norm and tilt error. sensor_processor.cpp computes delta_d as sonar minus central optical altitude; some prose documentation uses the opposite sign. Avoid claiming that this signature has been measured on real foliage. Sources: https://github.com/AndrewManitsas/LandingGearController; src/sensing_domain/src/sensor_processor.cpp; src/intelligence_domain/include/intelligence_domain/model_rules.hpp; src/control_domain/src/flight_supervisor.cpp; src/control_domain/src/landing_gear_controller.cpp.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confusion matrix reports 125 correct samples in each class, 375 total. This is an existing simulation result, not a new evaluation in this presentation update. Dataset contains 1,500 rows; training uses random_state 42, a stratified 75/25 split and max_depth 4. The generated tree tests tilt error and spatial variance only. Correlated samples and labels assigned by world make this score optimistic. Host inference timing does not measure a microcontroller. Sources: https://github.com/AndrewManitsas/LandingGearController; src/sensing_domain/src/sensor_processor.cpp; src/intelligence_domain/include/intelligence_domain/model_rules.hpp; src/control_domain/src/flight_supervisor.cpp; src/control_domain/src/landing_gear_controller.cpp. Additional sources: scripts/train_classifier.py; data/dataset.csv; docs/testing_and_validation.md; supplied slide graphic.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Left: retain the supplied diagram as simulation geometry, three sensors at radius 0.06 m. Right: actual connected hardware is Uno plus MPU6500 plus one VL53L0X. Both sensor modules use the existing 3.3 V wiring. Both SG90s remain disconnected because suitable actuator power is unavailable. ESP32, sonar and magnetometer are unused. Sources: LandingGearSystem/README.md; firmware/LandingGearController/LandingGearController.ino; tools/IMU.py. Hardware checks reflect the demonstrated bench setup, not aircraft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hardware filter uses time constant 0.50 s and actual dt, unlike the simulation filter fixed alpha of 0.9. The Uno computes a proportional virtual angle, not the simulated PID controller. Show +10 degree pitch producing approximately 80 degrees stabilizer command. Invalid numeric IMU data neutralizes the stabilizer but retains a deployed gear command. Sources: LandingGearSystem/README.md; firmware/LandingGearController/LandingGearController.ino; tools/IMU.py. Hardware checks reflect the demonstrated bench setup, not aircraft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 distinct ranges build the window, then all checks must hold for another second. Sensor faults or range age over 250 ms reset the window. Failed tilt/range/stability restarts qualification. UNKNOWN includes missing or invalid data and qualification; UNSAFE denotes a failed measured rule. These are provisional bench settings. Sources: LandingGearSystem/README.md; firmware/LandingGearController/LandingGearController.ino; tools/IMU.py. Hardware checks reflect the demonstrated bench setup, not aircraft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STOWED to READY represents permission, not actuator movement. D transitions to DEPLOYED only while qualified; early D is rejected. Once deployed, readiness can be lost without retraction. S or reset stows the virtual gear. Contrast explicitly with the simulation: the supervisor requests deployment below 0.5 m when abort is clear; unsafe conditions cause go-around, and the gear controller forces stow on abort. The two policies differ intentionally and neither establishes flight safety. Sources: LandingGearSystem/README.md; firmware/LandingGearController/LandingGearController.ino; tools/IMU.py. Hardware checks reflect the demonstrated bench setup, not aircraft validation. Sources: https://github.com/AndrewManitsas/LandingGearController; src/sensing_domain/src/sensor_processor.cpp; src/intelligence_domain/include/intelligence_domain/model_rules.hpp; src/control_domain/src/flight_supervisor.cpp; src/control_domain/src/landing_gear_controller.cpp.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order: first show the broader Gazebo scenarios, then the real sensors. For the hardware aim at a steady card 200-300 mm away with IMU level. Wait for qualification, send D, move the target away or tilt, show warning and retained DEPLOYED, then S. Tilt separately to show virtual stabilizer response. Use Python Reports mode or Serial Monitor at 115200; only one can own the port. Keep IMU level during startup calibration. Future work needs compatible sensor power and I2C, rigid three-sensor geometry, servo power and calibrated mechanics before closed-loop hardware tests. Sources: LandingGearSystem/README.md; firmware/LandingGearController/LandingGearController.ino; tools/IMU.py. Hardware checks reflect the demonstrated bench setup, not aircraft validation. Sources: https://github.com/AndrewManitsas/LandingGearController; src/sensing_domain/src/sensor_processor.cpp; src/intelligence_domain/include/intelligence_domain/model_rules.hpp; src/control_domain/src/flight_supervisor.cpp; src/control_domain/src/landing_gear_controller.cpp.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0e541ac09b4d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ef9f016f6d46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c2c885fd37c4d5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ARK">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F37A468-F932-4282-9E22-566CD9349604}"/>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chemeClr val="tx1"/>
          </a:solidFill>
        </p:spPr>
        <p:txBody>
          <a:bodyPr xmlns:a="http://schemas.openxmlformats.org/drawingml/2006/main"/>
          <a:lstStyle xmlns:a="http://schemas.openxmlformats.org/drawingml/2006/main"/>
          <a:p xmlns:a="http://schemas.openxmlformats.org/drawingml/2006/main">
            <a:endParaRPr/>
          </a:p>
        </p:txBody>
      </p:sp>
      <p:sp>
        <p:nvSpPr>
          <p:cNvPr id="25" name="Slide Number Placeholder 0">
            <a:extLst xmlns:a="http://schemas.openxmlformats.org/drawingml/2006/main">
              <a:ext uri="{FF2B5EF4-FFF2-40B4-BE49-F238E27FC236}">
                <a16:creationId xmlns:a16="http://schemas.microsoft.com/office/drawing/2014/main" id="{22B441F0-7814-41D3-8431-0B2AE7F25676}"/>
              </a:ext>
            </a:extLst>
          </p:cNvPr>
          <p:cNvSpPr>
            <a:spLocks xmlns:a="http://schemas.openxmlformats.org/drawingml/2006/main" noGrp="1"/>
          </p:cNvSpPr>
          <p:nvPr>
            <p:ph type="sldNum" idx="4294967295"/>
          </p:nvPr>
        </p:nvSpPr>
        <p:spPr>
          <a:xfrm xmlns:a="http://schemas.openxmlformats.org/drawingml/2006/main">
            <a:off x="8321040" y="480060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defRPr>
            </a:lvl1pPr>
          </a:lstStyle>
          <a:p xmlns:a="http://schemas.openxmlformats.org/drawingml/2006/main">
            <a:pPr algn="l">
              <a:buNone/>
            </a:pPr>
            <a:fld id="{F7021451-1387-4CA6-816F-3879F97B5CBC}" type="slidenum">
              <a:rPr b="0"/>
              <a:t>‹#›</a:t>
            </a:fld>
            <a:endParaRPr/>
          </a:p>
        </p:txBody>
      </p:sp>
    </p:spTree>
  </p:cSld>
</p:sldLayout>
</file>

<file path=ppt/slideLayouts/slideLayout3.xml><?xml version="1.0" encoding="utf-8"?>
<p:sldLayout xmlns:p="http://schemas.openxmlformats.org/presentationml/2006/main" preserve="1">
  <p:cSld name="LIGHT">
    <p:bg>
      <p:bgPr>
        <a:solidFill xmlns:a="http://schemas.openxmlformats.org/drawingml/2006/main">
          <a:schemeClr val="bg1"/>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17BB08DA-1BCA-40AF-9DED-F828826C5C50}"/>
              </a:ext>
            </a:extLst>
          </p:cNvPr>
          <p:cNvSpPr>
            <a:spLocks xmlns:a="http://schemas.openxmlformats.org/drawingml/2006/main" noGrp="1"/>
          </p:cNvSpPr>
          <p:nvPr>
            <p:ph type="sldNum" idx="4294967295"/>
          </p:nvPr>
        </p:nvSpPr>
        <p:spPr>
          <a:xfrm xmlns:a="http://schemas.openxmlformats.org/drawingml/2006/main">
            <a:off x="8321040" y="480060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6"/>
                </a:solidFill>
              </a:defRPr>
            </a:lvl1pPr>
          </a:lstStyle>
          <a:p xmlns:a="http://schemas.openxmlformats.org/drawingml/2006/main">
            <a:pPr algn="l">
              <a:buNone/>
            </a:pPr>
            <a:fld id="{F7021451-1387-4CA6-816F-3879F97B5CBC}" type="slidenum">
              <a:rPr b="0"/>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e25e978ea64ca3" /><Relationship Type="http://schemas.openxmlformats.org/officeDocument/2006/relationships/slideLayout" Target="/ppt/slideLayouts/slideLayout1.xml" Id="R12b271b7377243cb" /><Relationship Type="http://schemas.openxmlformats.org/officeDocument/2006/relationships/slideLayout" Target="/ppt/slideLayouts/slideLayout2.xml" Id="R8bf399eeff8c4db1" /><Relationship Type="http://schemas.openxmlformats.org/officeDocument/2006/relationships/slideLayout" Target="/ppt/slideLayouts/slideLayout3.xml" Id="Rdca820944995490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AC9CA028-9D1B-4BF4-A9C6-07D72DE647E2}"/>
              </a:ext>
            </a:extLst>
          </p:cNvPr>
          <p:cNvSpPr>
            <a:spLocks xmlns:a="http://schemas.openxmlformats.org/drawingml/2006/main" noGrp="1"/>
          </p:cNvSpPr>
          <p:nvPr>
            <p:ph type="sldNum" idx="4294967295"/>
          </p:nvPr>
        </p:nvSpPr>
        <p:spPr>
          <a:xfrm xmlns:a="http://schemas.openxmlformats.org/drawingml/2006/main">
            <a:off x="8321040" y="480060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defRPr>
            </a:lvl1pPr>
          </a:lstStyle>
          <a:p xmlns:a="http://schemas.openxmlformats.org/drawingml/2006/main">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b271b7377243cb"/>
    <p:sldLayoutId xmlns:r="http://schemas.openxmlformats.org/officeDocument/2006/relationships" id="2147483650" r:id="R8bf399eeff8c4db1"/>
    <p:sldLayoutId xmlns:r="http://schemas.openxmlformats.org/officeDocument/2006/relationships" id="2147483651" r:id="Rdca820944995490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LandingGear">
  <a:themeElements>
    <a:clrScheme name="LandingGear">
      <a:dk1>
        <a:srgbClr val="0B1F2A"/>
      </a:dk1>
      <a:lt1>
        <a:srgbClr val="FFFFFF"/>
      </a:lt1>
      <a:dk2>
        <a:srgbClr val="12384A"/>
      </a:dk2>
      <a:lt2>
        <a:srgbClr val="EAF1F4"/>
      </a:lt2>
      <a:accent1>
        <a:srgbClr val="F2A541"/>
      </a:accent1>
      <a:accent2>
        <a:srgbClr val="1F7A8C"/>
      </a:accent2>
      <a:accent3>
        <a:srgbClr val="C8553D"/>
      </a:accent3>
      <a:accent4>
        <a:srgbClr val="4E8F6E"/>
      </a:accent4>
      <a:accent5>
        <a:srgbClr val="8AA6B1"/>
      </a:accent5>
      <a:accent6>
        <a:srgbClr val="3D5A6C"/>
      </a:accent6>
      <a:hlink>
        <a:srgbClr val="1F7A8C"/>
      </a:hlink>
      <a:folHlink>
        <a:srgbClr val="3D5A6C"/>
      </a:folHlink>
    </a:clrScheme>
    <a:fontScheme name="LandingGe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LandingGear">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f020371487514e76" /><Relationship Type="http://schemas.openxmlformats.org/officeDocument/2006/relationships/notesSlide" Target="/ppt/notesSlides/notesSlide1.xml" Id="R0508beac9e1746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53a8fc243d14e0a" /><Relationship Type="http://schemas.openxmlformats.org/officeDocument/2006/relationships/notesSlide" Target="/ppt/notesSlides/notesSlide2.xml" Id="Ra53e13a4dc884c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792ef5db40df4a9f" /><Relationship Type="http://schemas.openxmlformats.org/officeDocument/2006/relationships/notesSlide" Target="/ppt/notesSlides/notesSlide3.xml" Id="Rf34a2cf9e48346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c9ded5d0992d4dad" /><Relationship Type="http://schemas.openxmlformats.org/officeDocument/2006/relationships/image" Target="/ppt/media/image.png" Id="Rcfaa92a26c9c44c6" /><Relationship Type="http://schemas.openxmlformats.org/officeDocument/2006/relationships/notesSlide" Target="/ppt/notesSlides/notesSlide4.xml" Id="R9759e348a6e949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f5d13169dc874ebe" /><Relationship Type="http://schemas.openxmlformats.org/officeDocument/2006/relationships/notesSlide" Target="/ppt/notesSlides/notesSlide5.xml" Id="R5f279d3f65814a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b898da0e42b34fba" /><Relationship Type="http://schemas.openxmlformats.org/officeDocument/2006/relationships/notesSlide" Target="/ppt/notesSlides/notesSlide6.xml" Id="R2a8c547d1a764a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9d87e3f3e5ca44ef" /><Relationship Type="http://schemas.openxmlformats.org/officeDocument/2006/relationships/notesSlide" Target="/ppt/notesSlides/notesSlide7.xml" Id="Rf494e291a43c45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8969502ba90c4e09" /><Relationship Type="http://schemas.openxmlformats.org/officeDocument/2006/relationships/notesSlide" Target="/ppt/notesSlides/notesSlide8.xml" Id="R9e28d3b1487041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6f66a59523440fc" /><Relationship Type="http://schemas.openxmlformats.org/officeDocument/2006/relationships/notesSlide" Target="/ppt/notesSlides/notesSlide9.xml" Id="R7cc6c07337a2492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FD587F5-9BBB-4170-AC72-F808068E02F4}"/>
              </a:ext>
            </a:extLst>
          </p:cNvPr>
          <p:cNvSpPr>
            <a:spLocks xmlns:a="http://schemas.openxmlformats.org/drawingml/2006/main" noGrp="1"/>
          </p:cNvSpPr>
          <p:nvPr/>
        </p:nvSpPr>
        <p:spPr>
          <a:xfrm xmlns:a="http://schemas.openxmlformats.org/drawingml/2006/main">
            <a:off x="548640" y="365760"/>
            <a:ext cx="80467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400" b="1">
                <a:solidFill>
                  <a:schemeClr val="bg1"/>
                </a:solidFill>
              </a:rPr>
              <a:t>UAV landing gear assistance</a:t>
            </a:r>
            <a:endParaRPr sz="3400"/>
          </a:p>
        </p:txBody>
      </p:sp>
      <p:sp>
        <p:nvSpPr>
          <p:cNvPr id="4" name="Text 1">
            <a:extLst xmlns:a="http://schemas.openxmlformats.org/drawingml/2006/main">
              <a:ext uri="{FF2B5EF4-FFF2-40B4-BE49-F238E27FC236}">
                <a16:creationId xmlns:a16="http://schemas.microsoft.com/office/drawing/2014/main" id="{7A6020C2-E641-4E17-80EE-D2CB507E95F3}"/>
              </a:ext>
            </a:extLst>
          </p:cNvPr>
          <p:cNvSpPr>
            <a:spLocks xmlns:a="http://schemas.openxmlformats.org/drawingml/2006/main" noGrp="1"/>
          </p:cNvSpPr>
          <p:nvPr/>
        </p:nvSpPr>
        <p:spPr>
          <a:xfrm xmlns:a="http://schemas.openxmlformats.org/drawingml/2006/main">
            <a:off x="548640" y="1371600"/>
            <a:ext cx="49377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a:solidFill>
                  <a:schemeClr val="accent5"/>
                </a:solidFill>
              </a:rPr>
              <a:t>Simulation proof of concept and Arduino bench prototype</a:t>
            </a:r>
            <a:endParaRPr sz="2000"/>
          </a:p>
        </p:txBody>
      </p:sp>
      <p:sp>
        <p:nvSpPr>
          <p:cNvPr id="5" name="Text 2">
            <a:extLst xmlns:a="http://schemas.openxmlformats.org/drawingml/2006/main">
              <a:ext uri="{FF2B5EF4-FFF2-40B4-BE49-F238E27FC236}">
                <a16:creationId xmlns:a16="http://schemas.microsoft.com/office/drawing/2014/main" id="{6E207CA8-6D85-4EC0-B68A-879888F0962F}"/>
              </a:ext>
            </a:extLst>
          </p:cNvPr>
          <p:cNvSpPr>
            <a:spLocks xmlns:a="http://schemas.openxmlformats.org/drawingml/2006/main" noGrp="1"/>
          </p:cNvSpPr>
          <p:nvPr/>
        </p:nvSpPr>
        <p:spPr>
          <a:xfrm xmlns:a="http://schemas.openxmlformats.org/drawingml/2006/main">
            <a:off x="548640" y="2926080"/>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bg2"/>
                </a:solidFill>
              </a:rPr>
              <a:t>UAV01 · Sensor Systems for UAVs</a:t>
            </a:r>
            <a:endParaRPr sz="1600"/>
          </a:p>
          <a:p xmlns:a="http://schemas.openxmlformats.org/drawingml/2006/main">
            <a:pPr marL="0" indent="0">
              <a:buNone/>
            </a:pPr>
            <a:r>
              <a:rPr sz="1600">
                <a:solidFill>
                  <a:schemeClr val="bg2"/>
                </a:solidFill>
              </a:rPr>
              <a:t>Aristotle University of Thessaloniki</a:t>
            </a:r>
            <a:endParaRPr sz="1600"/>
          </a:p>
        </p:txBody>
      </p:sp>
      <p:sp>
        <p:nvSpPr>
          <p:cNvPr id="6" name="Text 3">
            <a:extLst xmlns:a="http://schemas.openxmlformats.org/drawingml/2006/main">
              <a:ext uri="{FF2B5EF4-FFF2-40B4-BE49-F238E27FC236}">
                <a16:creationId xmlns:a16="http://schemas.microsoft.com/office/drawing/2014/main" id="{385FD1B0-AB2F-4E0A-BD26-0873B4446522}"/>
              </a:ext>
            </a:extLst>
          </p:cNvPr>
          <p:cNvSpPr>
            <a:spLocks xmlns:a="http://schemas.openxmlformats.org/drawingml/2006/main" noGrp="1"/>
          </p:cNvSpPr>
          <p:nvPr/>
        </p:nvSpPr>
        <p:spPr>
          <a:xfrm xmlns:a="http://schemas.openxmlformats.org/drawingml/2006/main">
            <a:off x="54864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rPr sz="1800" b="1">
                <a:solidFill>
                  <a:schemeClr val="accent1"/>
                </a:solidFill>
              </a:rPr>
              <a:t>Andreas </a:t>
            </a:r>
            <a:r>
              <a:rPr sz="1800" b="1">
                <a:solidFill>
                  <a:schemeClr val="accent1"/>
                </a:solidFill>
              </a:rPr>
              <a:t>Manitsas</a:t>
            </a:r>
            <a:r>
              <a:rPr sz="1800" b="1">
                <a:solidFill>
                  <a:schemeClr val="accent1"/>
                </a:solidFill>
              </a:rPr>
              <a:t> </a:t>
            </a:r>
            <a:r>
              <a:rPr b="1">
                <a:solidFill>
                  <a:schemeClr val="accent1"/>
                </a:solidFill>
              </a:rPr>
              <a:t>· Maria Vrana</a:t>
            </a:r>
            <a:endParaRPr sz="1800"/>
          </a:p>
        </p:txBody>
      </p:sp>
      <p:sp>
        <p:nvSpPr>
          <p:cNvPr id="7" name="Shape 4">
            <a:extLst xmlns:a="http://schemas.openxmlformats.org/drawingml/2006/main">
              <a:ext uri="{FF2B5EF4-FFF2-40B4-BE49-F238E27FC236}">
                <a16:creationId xmlns:a16="http://schemas.microsoft.com/office/drawing/2014/main" id="{2E26D4B4-7999-4EE4-B8F0-89B693BBE566}"/>
              </a:ext>
            </a:extLst>
          </p:cNvPr>
          <p:cNvSpPr>
            <a:spLocks xmlns:a="http://schemas.openxmlformats.org/drawingml/2006/main" noGrp="1"/>
          </p:cNvSpPr>
          <p:nvPr/>
        </p:nvSpPr>
        <p:spPr>
          <a:xfrm xmlns:a="http://schemas.openxmlformats.org/drawingml/2006/main" flipV="1">
            <a:off x="6236208" y="1879092"/>
            <a:ext cx="987552" cy="1728216"/>
          </a:xfrm>
          <a:prstGeom xmlns:a="http://schemas.openxmlformats.org/drawingml/2006/main" prst="line">
            <a:avLst/>
          </a:prstGeom>
          <a:noFill xmlns:a="http://schemas.openxmlformats.org/drawingml/2006/main"/>
          <a:ln xmlns:a="http://schemas.openxmlformats.org/drawingml/2006/main" w="25400">
            <a:solidFill>
              <a:schemeClr val="accent5"/>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hape 5">
            <a:extLst xmlns:a="http://schemas.openxmlformats.org/drawingml/2006/main">
              <a:ext uri="{FF2B5EF4-FFF2-40B4-BE49-F238E27FC236}">
                <a16:creationId xmlns:a16="http://schemas.microsoft.com/office/drawing/2014/main" id="{49A7A58C-25DD-434B-B94B-EAFEE5A17976}"/>
              </a:ext>
            </a:extLst>
          </p:cNvPr>
          <p:cNvSpPr>
            <a:spLocks xmlns:a="http://schemas.openxmlformats.org/drawingml/2006/main" noGrp="1"/>
          </p:cNvSpPr>
          <p:nvPr/>
        </p:nvSpPr>
        <p:spPr>
          <a:xfrm xmlns:a="http://schemas.openxmlformats.org/drawingml/2006/main">
            <a:off x="7223760" y="1879092"/>
            <a:ext cx="987552" cy="1728216"/>
          </a:xfrm>
          <a:prstGeom xmlns:a="http://schemas.openxmlformats.org/drawingml/2006/main" prst="line">
            <a:avLst/>
          </a:prstGeom>
          <a:noFill xmlns:a="http://schemas.openxmlformats.org/drawingml/2006/main"/>
          <a:ln xmlns:a="http://schemas.openxmlformats.org/drawingml/2006/main" w="25400">
            <a:solidFill>
              <a:schemeClr val="accent5"/>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6">
            <a:extLst xmlns:a="http://schemas.openxmlformats.org/drawingml/2006/main">
              <a:ext uri="{FF2B5EF4-FFF2-40B4-BE49-F238E27FC236}">
                <a16:creationId xmlns:a16="http://schemas.microsoft.com/office/drawing/2014/main" id="{1DCCE45A-0A4E-4C1B-84D2-B363745FACD5}"/>
              </a:ext>
            </a:extLst>
          </p:cNvPr>
          <p:cNvSpPr>
            <a:spLocks xmlns:a="http://schemas.openxmlformats.org/drawingml/2006/main" noGrp="1"/>
          </p:cNvSpPr>
          <p:nvPr/>
        </p:nvSpPr>
        <p:spPr>
          <a:xfrm xmlns:a="http://schemas.openxmlformats.org/drawingml/2006/main">
            <a:off x="6236208" y="3607308"/>
            <a:ext cx="1975104" cy="0"/>
          </a:xfrm>
          <a:prstGeom xmlns:a="http://schemas.openxmlformats.org/drawingml/2006/main" prst="line">
            <a:avLst/>
          </a:prstGeom>
          <a:noFill xmlns:a="http://schemas.openxmlformats.org/drawingml/2006/main"/>
          <a:ln xmlns:a="http://schemas.openxmlformats.org/drawingml/2006/main" w="25400">
            <a:solidFill>
              <a:schemeClr val="accent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7">
            <a:extLst xmlns:a="http://schemas.openxmlformats.org/drawingml/2006/main">
              <a:ext uri="{FF2B5EF4-FFF2-40B4-BE49-F238E27FC236}">
                <a16:creationId xmlns:a16="http://schemas.microsoft.com/office/drawing/2014/main" id="{D3860E2B-B712-4D6E-B919-77311834570D}"/>
              </a:ext>
            </a:extLst>
          </p:cNvPr>
          <p:cNvSpPr>
            <a:spLocks xmlns:a="http://schemas.openxmlformats.org/drawingml/2006/main" noGrp="1"/>
          </p:cNvSpPr>
          <p:nvPr/>
        </p:nvSpPr>
        <p:spPr>
          <a:xfrm xmlns:a="http://schemas.openxmlformats.org/drawingml/2006/main">
            <a:off x="7050024" y="1705356"/>
            <a:ext cx="347472" cy="347472"/>
          </a:xfrm>
          <a:prstGeom xmlns:a="http://schemas.openxmlformats.org/drawingml/2006/main" prst="ellipse">
            <a:avLst/>
          </a:prstGeom>
          <a:solidFill xmlns:a="http://schemas.openxmlformats.org/drawingml/2006/main">
            <a:schemeClr val="accent1"/>
          </a:solidFill>
          <a:ln xmlns:a="http://schemas.openxmlformats.org/drawingml/2006/main" w="12700">
            <a:solidFill>
              <a:schemeClr val="accent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8">
            <a:extLst xmlns:a="http://schemas.openxmlformats.org/drawingml/2006/main">
              <a:ext uri="{FF2B5EF4-FFF2-40B4-BE49-F238E27FC236}">
                <a16:creationId xmlns:a16="http://schemas.microsoft.com/office/drawing/2014/main" id="{AA7C6253-5AED-4D3F-9A24-C3E20598BEF2}"/>
              </a:ext>
            </a:extLst>
          </p:cNvPr>
          <p:cNvSpPr>
            <a:spLocks xmlns:a="http://schemas.openxmlformats.org/drawingml/2006/main" noGrp="1"/>
          </p:cNvSpPr>
          <p:nvPr/>
        </p:nvSpPr>
        <p:spPr>
          <a:xfrm xmlns:a="http://schemas.openxmlformats.org/drawingml/2006/main">
            <a:off x="6062472" y="3433572"/>
            <a:ext cx="347472" cy="347472"/>
          </a:xfrm>
          <a:prstGeom xmlns:a="http://schemas.openxmlformats.org/drawingml/2006/main" prst="ellipse">
            <a:avLst/>
          </a:prstGeom>
          <a:solidFill xmlns:a="http://schemas.openxmlformats.org/drawingml/2006/main">
            <a:schemeClr val="accent1"/>
          </a:solidFill>
          <a:ln xmlns:a="http://schemas.openxmlformats.org/drawingml/2006/main" w="12700">
            <a:solidFill>
              <a:schemeClr val="accent1"/>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2462CBF1-55DE-4816-B3A4-F13FEF4637EF}"/>
              </a:ext>
            </a:extLst>
          </p:cNvPr>
          <p:cNvSpPr>
            <a:spLocks xmlns:a="http://schemas.openxmlformats.org/drawingml/2006/main" noGrp="1"/>
          </p:cNvSpPr>
          <p:nvPr/>
        </p:nvSpPr>
        <p:spPr>
          <a:xfrm xmlns:a="http://schemas.openxmlformats.org/drawingml/2006/main">
            <a:off x="8037576" y="3433572"/>
            <a:ext cx="347472" cy="347472"/>
          </a:xfrm>
          <a:prstGeom xmlns:a="http://schemas.openxmlformats.org/drawingml/2006/main" prst="ellipse">
            <a:avLst/>
          </a:prstGeom>
          <a:solidFill xmlns:a="http://schemas.openxmlformats.org/drawingml/2006/main">
            <a:schemeClr val="accent1"/>
          </a:solidFill>
          <a:ln xmlns:a="http://schemas.openxmlformats.org/drawingml/2006/main" w="12700">
            <a:solidFill>
              <a:schemeClr val="accent1"/>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Slide Number Placeholder 0">
            <a:extLst xmlns:a="http://schemas.openxmlformats.org/drawingml/2006/main">
              <a:ext uri="{FF2B5EF4-FFF2-40B4-BE49-F238E27FC236}">
                <a16:creationId xmlns:a16="http://schemas.microsoft.com/office/drawing/2014/main" id="{647C06E0-BF0D-44EE-AABA-B4528FB338FA}"/>
              </a:ext>
            </a:extLst>
          </p:cNvPr>
          <p:cNvSpPr>
            <a:spLocks xmlns:a="http://schemas.openxmlformats.org/drawingml/2006/main" noGrp="1"/>
          </p:cNvSpPr>
          <p:nvPr>
            <p:ph type="sldNum" idx="4294967295"/>
          </p:nvPr>
        </p:nvSpPr>
        <p:spPr>
          <a:xfrm xmlns:a="http://schemas.openxmlformats.org/drawingml/2006/main">
            <a:off x="8321040" y="480060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defRPr>
            </a:lvl1pPr>
          </a:lstStyle>
          <a:p xmlns:a="http://schemas.openxmlformats.org/drawingml/2006/main">
            <a:pPr algn="l">
              <a:buNone/>
            </a:pPr>
            <a:fld id="{AD75FED6-38D0-DE9C-92C0-6E7FA635581C}" type="slidenum">
              <a:rPr b="0"/>
              <a:t>1</a:t>
            </a:fld>
            <a:endParaRPr/>
          </a:p>
        </p:txBody>
      </p:sp>
    </p:spTree>
    <p:extLst>
      <p:ext uri="{BB962C8B-B14F-4D97-AF65-F5344CB8AC3E}">
        <p14:creationId xmlns:p14="http://schemas.microsoft.com/office/powerpoint/2010/main" val="5167689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550AEFE-C8BC-4425-9F2D-2A34F32F5A59}"/>
              </a:ext>
            </a:extLst>
          </p:cNvPr>
          <p:cNvSpPr>
            <a:spLocks xmlns:a="http://schemas.openxmlformats.org/drawingml/2006/main" noGrp="1"/>
          </p:cNvSpPr>
          <p:nvPr/>
        </p:nvSpPr>
        <p:spPr>
          <a:xfrm xmlns:a="http://schemas.openxmlformats.org/drawingml/2006/main">
            <a:off x="457200" y="27432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200" b="1">
                <a:solidFill>
                  <a:schemeClr val="tx1"/>
                </a:solidFill>
              </a:rPr>
              <a:t>Project goal and implemented scope</a:t>
            </a:r>
            <a:endParaRPr sz="3200"/>
          </a:p>
        </p:txBody>
      </p:sp>
      <p:sp>
        <p:nvSpPr>
          <p:cNvPr id="4" name="Text 1">
            <a:extLst xmlns:a="http://schemas.openxmlformats.org/drawingml/2006/main">
              <a:ext uri="{FF2B5EF4-FFF2-40B4-BE49-F238E27FC236}">
                <a16:creationId xmlns:a16="http://schemas.microsoft.com/office/drawing/2014/main" id="{8AEFE30F-F45A-400A-8115-33B1A9C4ABE2}"/>
              </a:ext>
            </a:extLst>
          </p:cNvPr>
          <p:cNvSpPr>
            <a:spLocks xmlns:a="http://schemas.openxmlformats.org/drawingml/2006/main" noGrp="1"/>
          </p:cNvSpPr>
          <p:nvPr/>
        </p:nvSpPr>
        <p:spPr>
          <a:xfrm xmlns:a="http://schemas.openxmlformats.org/drawingml/2006/main">
            <a:off x="457200" y="1280160"/>
            <a:ext cx="4572000" cy="3108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400"/>
              </a:spcAft>
              <a:buSzPct val="100000"/>
              <a:buChar char="•"/>
            </a:pPr>
            <a:r>
              <a:rPr sz="1800">
                <a:solidFill>
                  <a:schemeClr val="tx1"/>
                </a:solidFill>
              </a:rPr>
              <a:t>Assess landing conditions before accepting a deployment request.</a:t>
            </a:r>
            <a:endParaRPr sz="1800"/>
          </a:p>
          <a:p xmlns:a="http://schemas.openxmlformats.org/drawingml/2006/main">
            <a:pPr marL="342900" indent="-342900">
              <a:spcAft>
                <a:spcPts val="1400"/>
              </a:spcAft>
              <a:buSzPct val="100000"/>
              <a:buChar char="•"/>
            </a:pPr>
            <a:r>
              <a:rPr sz="1800">
                <a:solidFill>
                  <a:schemeClr val="tx1"/>
                </a:solidFill>
              </a:rPr>
              <a:t>Simulation explores terrain classification and flight behaviour.</a:t>
            </a:r>
            <a:endParaRPr sz="1800"/>
          </a:p>
          <a:p xmlns:a="http://schemas.openxmlformats.org/drawingml/2006/main">
            <a:pPr marL="342900" indent="-342900">
              <a:spcAft>
                <a:spcPts val="1400"/>
              </a:spcAft>
              <a:buSzPct val="100000"/>
              <a:buChar char="•"/>
            </a:pPr>
            <a:r>
              <a:rPr sz="1800">
                <a:solidFill>
                  <a:schemeClr val="tx1"/>
                </a:solidFill>
              </a:rPr>
              <a:t>The Uno demo exercises real sensing and a manual landing sequence.</a:t>
            </a:r>
            <a:endParaRPr sz="1800"/>
          </a:p>
        </p:txBody>
      </p:sp>
      <p:sp>
        <p:nvSpPr>
          <p:cNvPr id="5" name="stat0">
            <a:extLst xmlns:a="http://schemas.openxmlformats.org/drawingml/2006/main">
              <a:ext uri="{FF2B5EF4-FFF2-40B4-BE49-F238E27FC236}">
                <a16:creationId xmlns:a16="http://schemas.microsoft.com/office/drawing/2014/main" id="{2B249A0D-748E-4122-BE43-A1612A16C330}"/>
              </a:ext>
            </a:extLst>
          </p:cNvPr>
          <p:cNvSpPr>
            <a:spLocks xmlns:a="http://schemas.openxmlformats.org/drawingml/2006/main" noGrp="1"/>
          </p:cNvSpPr>
          <p:nvPr/>
        </p:nvSpPr>
        <p:spPr>
          <a:xfrm xmlns:a="http://schemas.openxmlformats.org/drawingml/2006/main">
            <a:off x="5577840" y="1280160"/>
            <a:ext cx="3108960" cy="960120"/>
          </a:xfrm>
          <a:prstGeom xmlns:a="http://schemas.openxmlformats.org/drawingml/2006/main" prst="roundRect">
            <a:avLst>
              <a:gd name="adj" fmla="val 11429"/>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761A8594-926C-4621-A511-9792B85951A2}"/>
              </a:ext>
            </a:extLst>
          </p:cNvPr>
          <p:cNvSpPr>
            <a:spLocks xmlns:a="http://schemas.openxmlformats.org/drawingml/2006/main" noGrp="1"/>
          </p:cNvSpPr>
          <p:nvPr/>
        </p:nvSpPr>
        <p:spPr>
          <a:xfrm xmlns:a="http://schemas.openxmlformats.org/drawingml/2006/main">
            <a:off x="5760720" y="1280160"/>
            <a:ext cx="128016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chemeClr val="accent2"/>
                </a:solidFill>
              </a:rPr>
              <a:t>2</a:t>
            </a:r>
            <a:endParaRPr sz="3200"/>
          </a:p>
        </p:txBody>
      </p:sp>
      <p:sp>
        <p:nvSpPr>
          <p:cNvPr id="7" name="Text 4">
            <a:extLst xmlns:a="http://schemas.openxmlformats.org/drawingml/2006/main">
              <a:ext uri="{FF2B5EF4-FFF2-40B4-BE49-F238E27FC236}">
                <a16:creationId xmlns:a16="http://schemas.microsoft.com/office/drawing/2014/main" id="{4D774248-9036-4DCA-828A-7F079FA07A80}"/>
              </a:ext>
            </a:extLst>
          </p:cNvPr>
          <p:cNvSpPr>
            <a:spLocks xmlns:a="http://schemas.openxmlformats.org/drawingml/2006/main" noGrp="1"/>
          </p:cNvSpPr>
          <p:nvPr/>
        </p:nvSpPr>
        <p:spPr>
          <a:xfrm xmlns:a="http://schemas.openxmlformats.org/drawingml/2006/main">
            <a:off x="6995160" y="1280160"/>
            <a:ext cx="160020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tx1"/>
                </a:solidFill>
              </a:rPr>
              <a:t>separate prototypes</a:t>
            </a:r>
            <a:endParaRPr sz="1400"/>
          </a:p>
        </p:txBody>
      </p:sp>
      <p:sp>
        <p:nvSpPr>
          <p:cNvPr id="8" name="stat1">
            <a:extLst xmlns:a="http://schemas.openxmlformats.org/drawingml/2006/main">
              <a:ext uri="{FF2B5EF4-FFF2-40B4-BE49-F238E27FC236}">
                <a16:creationId xmlns:a16="http://schemas.microsoft.com/office/drawing/2014/main" id="{F36C2EE0-01C6-48E7-BD9F-6894DFD846CC}"/>
              </a:ext>
            </a:extLst>
          </p:cNvPr>
          <p:cNvSpPr>
            <a:spLocks xmlns:a="http://schemas.openxmlformats.org/drawingml/2006/main" noGrp="1"/>
          </p:cNvSpPr>
          <p:nvPr/>
        </p:nvSpPr>
        <p:spPr>
          <a:xfrm xmlns:a="http://schemas.openxmlformats.org/drawingml/2006/main">
            <a:off x="5577840" y="2377440"/>
            <a:ext cx="3108960" cy="960120"/>
          </a:xfrm>
          <a:prstGeom xmlns:a="http://schemas.openxmlformats.org/drawingml/2006/main" prst="roundRect">
            <a:avLst>
              <a:gd name="adj" fmla="val 11429"/>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6">
            <a:extLst xmlns:a="http://schemas.openxmlformats.org/drawingml/2006/main">
              <a:ext uri="{FF2B5EF4-FFF2-40B4-BE49-F238E27FC236}">
                <a16:creationId xmlns:a16="http://schemas.microsoft.com/office/drawing/2014/main" id="{BA2CAD53-78D1-46DB-825B-B61B836EA417}"/>
              </a:ext>
            </a:extLst>
          </p:cNvPr>
          <p:cNvSpPr>
            <a:spLocks xmlns:a="http://schemas.openxmlformats.org/drawingml/2006/main" noGrp="1"/>
          </p:cNvSpPr>
          <p:nvPr/>
        </p:nvSpPr>
        <p:spPr>
          <a:xfrm xmlns:a="http://schemas.openxmlformats.org/drawingml/2006/main">
            <a:off x="5760720" y="2377440"/>
            <a:ext cx="128016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chemeClr val="accent2"/>
                </a:solidFill>
              </a:rPr>
              <a:t>1</a:t>
            </a:r>
            <a:endParaRPr sz="3200"/>
          </a:p>
        </p:txBody>
      </p:sp>
      <p:sp>
        <p:nvSpPr>
          <p:cNvPr id="10" name="Text 7">
            <a:extLst xmlns:a="http://schemas.openxmlformats.org/drawingml/2006/main">
              <a:ext uri="{FF2B5EF4-FFF2-40B4-BE49-F238E27FC236}">
                <a16:creationId xmlns:a16="http://schemas.microsoft.com/office/drawing/2014/main" id="{999305F3-1970-4D28-AFEF-ED29DC8E0EE9}"/>
              </a:ext>
            </a:extLst>
          </p:cNvPr>
          <p:cNvSpPr>
            <a:spLocks xmlns:a="http://schemas.openxmlformats.org/drawingml/2006/main" noGrp="1"/>
          </p:cNvSpPr>
          <p:nvPr/>
        </p:nvSpPr>
        <p:spPr>
          <a:xfrm xmlns:a="http://schemas.openxmlformats.org/drawingml/2006/main">
            <a:off x="6995160" y="2377440"/>
            <a:ext cx="160020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tx1"/>
                </a:solidFill>
              </a:rPr>
              <a:t>Uno with IMU and one ToF</a:t>
            </a:r>
            <a:endParaRPr sz="1400"/>
          </a:p>
        </p:txBody>
      </p:sp>
      <p:sp>
        <p:nvSpPr>
          <p:cNvPr id="11" name="stat2">
            <a:extLst xmlns:a="http://schemas.openxmlformats.org/drawingml/2006/main">
              <a:ext uri="{FF2B5EF4-FFF2-40B4-BE49-F238E27FC236}">
                <a16:creationId xmlns:a16="http://schemas.microsoft.com/office/drawing/2014/main" id="{D22FBD20-0B80-4FEE-8A5A-4582670182B1}"/>
              </a:ext>
            </a:extLst>
          </p:cNvPr>
          <p:cNvSpPr>
            <a:spLocks xmlns:a="http://schemas.openxmlformats.org/drawingml/2006/main" noGrp="1"/>
          </p:cNvSpPr>
          <p:nvPr/>
        </p:nvSpPr>
        <p:spPr>
          <a:xfrm xmlns:a="http://schemas.openxmlformats.org/drawingml/2006/main">
            <a:off x="5577840" y="3474720"/>
            <a:ext cx="3108960" cy="960120"/>
          </a:xfrm>
          <a:prstGeom xmlns:a="http://schemas.openxmlformats.org/drawingml/2006/main" prst="roundRect">
            <a:avLst>
              <a:gd name="adj" fmla="val 11429"/>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9">
            <a:extLst xmlns:a="http://schemas.openxmlformats.org/drawingml/2006/main">
              <a:ext uri="{FF2B5EF4-FFF2-40B4-BE49-F238E27FC236}">
                <a16:creationId xmlns:a16="http://schemas.microsoft.com/office/drawing/2014/main" id="{FB2C654D-21F1-4367-B70F-8531F86508E6}"/>
              </a:ext>
            </a:extLst>
          </p:cNvPr>
          <p:cNvSpPr>
            <a:spLocks xmlns:a="http://schemas.openxmlformats.org/drawingml/2006/main" noGrp="1"/>
          </p:cNvSpPr>
          <p:nvPr/>
        </p:nvSpPr>
        <p:spPr>
          <a:xfrm xmlns:a="http://schemas.openxmlformats.org/drawingml/2006/main">
            <a:off x="5760720" y="3474720"/>
            <a:ext cx="128016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chemeClr val="accent2"/>
                </a:solidFill>
              </a:rPr>
              <a:t>0</a:t>
            </a:r>
            <a:endParaRPr sz="3200"/>
          </a:p>
        </p:txBody>
      </p:sp>
      <p:sp>
        <p:nvSpPr>
          <p:cNvPr id="13" name="Text 10">
            <a:extLst xmlns:a="http://schemas.openxmlformats.org/drawingml/2006/main">
              <a:ext uri="{FF2B5EF4-FFF2-40B4-BE49-F238E27FC236}">
                <a16:creationId xmlns:a16="http://schemas.microsoft.com/office/drawing/2014/main" id="{828D8F77-F9C9-433B-A8DB-86B21A22A5F8}"/>
              </a:ext>
            </a:extLst>
          </p:cNvPr>
          <p:cNvSpPr>
            <a:spLocks xmlns:a="http://schemas.openxmlformats.org/drawingml/2006/main" noGrp="1"/>
          </p:cNvSpPr>
          <p:nvPr/>
        </p:nvSpPr>
        <p:spPr>
          <a:xfrm xmlns:a="http://schemas.openxmlformats.org/drawingml/2006/main">
            <a:off x="6995160" y="3474720"/>
            <a:ext cx="160020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tx1"/>
                </a:solidFill>
              </a:rPr>
              <a:t>powered servos in the bench demo</a:t>
            </a:r>
            <a:endParaRPr sz="1400"/>
          </a:p>
        </p:txBody>
      </p:sp>
      <p:sp>
        <p:nvSpPr>
          <p:cNvPr id="25" name="Slide Number Placeholder 0">
            <a:extLst xmlns:a="http://schemas.openxmlformats.org/drawingml/2006/main">
              <a:ext uri="{FF2B5EF4-FFF2-40B4-BE49-F238E27FC236}">
                <a16:creationId xmlns:a16="http://schemas.microsoft.com/office/drawing/2014/main" id="{5D936944-54E2-4ECD-993D-28A4D3D0F22D}"/>
              </a:ext>
            </a:extLst>
          </p:cNvPr>
          <p:cNvSpPr>
            <a:spLocks xmlns:a="http://schemas.openxmlformats.org/drawingml/2006/main" noGrp="1"/>
          </p:cNvSpPr>
          <p:nvPr>
            <p:ph type="sldNum" idx="4294967295"/>
          </p:nvPr>
        </p:nvSpPr>
        <p:spPr>
          <a:xfrm xmlns:a="http://schemas.openxmlformats.org/drawingml/2006/main">
            <a:off x="8321040" y="480060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6"/>
                </a:solidFill>
              </a:defRPr>
            </a:lvl1pPr>
          </a:lstStyle>
          <a:p xmlns:a="http://schemas.openxmlformats.org/drawingml/2006/main">
            <a:pPr algn="l">
              <a:buNone/>
            </a:pPr>
            <a:fld id="{E2598689-54C9-18A7-3A19-ED76AA08988F}" type="slidenum">
              <a:rPr b="0"/>
              <a:t>2</a:t>
            </a:fld>
            <a:endParaRPr/>
          </a:p>
        </p:txBody>
      </p:sp>
    </p:spTree>
    <p:extLst>
      <p:ext uri="{BB962C8B-B14F-4D97-AF65-F5344CB8AC3E}">
        <p14:creationId xmlns:p14="http://schemas.microsoft.com/office/powerpoint/2010/main" val="36178469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C1D6D3B-C332-4DE5-89C1-F7D3D435391E}"/>
              </a:ext>
            </a:extLst>
          </p:cNvPr>
          <p:cNvSpPr>
            <a:spLocks xmlns:a="http://schemas.openxmlformats.org/drawingml/2006/main" noGrp="1"/>
          </p:cNvSpPr>
          <p:nvPr/>
        </p:nvSpPr>
        <p:spPr>
          <a:xfrm xmlns:a="http://schemas.openxmlformats.org/drawingml/2006/main">
            <a:off x="457200" y="27432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200" b="1">
                <a:solidFill>
                  <a:schemeClr val="tx1"/>
                </a:solidFill>
              </a:rPr>
              <a:t>Simulation architecture</a:t>
            </a:r>
            <a:endParaRPr sz="3200"/>
          </a:p>
        </p:txBody>
      </p:sp>
      <p:sp>
        <p:nvSpPr>
          <p:cNvPr id="4" name="dom0">
            <a:extLst xmlns:a="http://schemas.openxmlformats.org/drawingml/2006/main">
              <a:ext uri="{FF2B5EF4-FFF2-40B4-BE49-F238E27FC236}">
                <a16:creationId xmlns:a16="http://schemas.microsoft.com/office/drawing/2014/main" id="{6F365D10-550F-415E-83E4-27BC511E4900}"/>
              </a:ext>
            </a:extLst>
          </p:cNvPr>
          <p:cNvSpPr>
            <a:spLocks xmlns:a="http://schemas.openxmlformats.org/drawingml/2006/main" noGrp="1"/>
          </p:cNvSpPr>
          <p:nvPr/>
        </p:nvSpPr>
        <p:spPr>
          <a:xfrm xmlns:a="http://schemas.openxmlformats.org/drawingml/2006/main">
            <a:off x="457200" y="1280160"/>
            <a:ext cx="2468880" cy="2286000"/>
          </a:xfrm>
          <a:prstGeom xmlns:a="http://schemas.openxmlformats.org/drawingml/2006/main" prst="roundRect">
            <a:avLst>
              <a:gd name="adj" fmla="val 4800"/>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2">
            <a:extLst xmlns:a="http://schemas.openxmlformats.org/drawingml/2006/main">
              <a:ext uri="{FF2B5EF4-FFF2-40B4-BE49-F238E27FC236}">
                <a16:creationId xmlns:a16="http://schemas.microsoft.com/office/drawing/2014/main" id="{9CC091E6-2082-4EE8-B0D7-8EDAAF705EEA}"/>
              </a:ext>
            </a:extLst>
          </p:cNvPr>
          <p:cNvSpPr>
            <a:spLocks xmlns:a="http://schemas.openxmlformats.org/drawingml/2006/main" noGrp="1"/>
          </p:cNvSpPr>
          <p:nvPr/>
        </p:nvSpPr>
        <p:spPr>
          <a:xfrm xmlns:a="http://schemas.openxmlformats.org/drawingml/2006/main">
            <a:off x="640080" y="1463040"/>
            <a:ext cx="457200" cy="457200"/>
          </a:xfrm>
          <a:prstGeom xmlns:a="http://schemas.openxmlformats.org/drawingml/2006/main" prst="ellipse">
            <a:avLst/>
          </a:prstGeom>
          <a:solidFill xmlns:a="http://schemas.openxmlformats.org/drawingml/2006/main">
            <a:schemeClr val="accent2"/>
          </a:solidFill>
          <a:ln xmlns:a="http://schemas.openxmlformats.org/drawingml/2006/main" w="12700">
            <a:solidFill>
              <a:schemeClr val="accent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F173E9F0-CB20-43D5-AEF0-1CD7AEA6B4A0}"/>
              </a:ext>
            </a:extLst>
          </p:cNvPr>
          <p:cNvSpPr>
            <a:spLocks xmlns:a="http://schemas.openxmlformats.org/drawingml/2006/main" noGrp="1"/>
          </p:cNvSpPr>
          <p:nvPr/>
        </p:nvSpPr>
        <p:spPr>
          <a:xfrm xmlns:a="http://schemas.openxmlformats.org/drawingml/2006/main">
            <a:off x="640080" y="146304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1</a:t>
            </a:r>
            <a:endParaRPr sz="1400"/>
          </a:p>
        </p:txBody>
      </p:sp>
      <p:sp>
        <p:nvSpPr>
          <p:cNvPr id="7" name="Text 4">
            <a:extLst xmlns:a="http://schemas.openxmlformats.org/drawingml/2006/main">
              <a:ext uri="{FF2B5EF4-FFF2-40B4-BE49-F238E27FC236}">
                <a16:creationId xmlns:a16="http://schemas.microsoft.com/office/drawing/2014/main" id="{BD625CA2-F207-44DE-A18F-6A382D90C4B9}"/>
              </a:ext>
            </a:extLst>
          </p:cNvPr>
          <p:cNvSpPr>
            <a:spLocks xmlns:a="http://schemas.openxmlformats.org/drawingml/2006/main" noGrp="1"/>
          </p:cNvSpPr>
          <p:nvPr/>
        </p:nvSpPr>
        <p:spPr>
          <a:xfrm xmlns:a="http://schemas.openxmlformats.org/drawingml/2006/main">
            <a:off x="1234440" y="1463040"/>
            <a:ext cx="164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chemeClr val="tx1"/>
                </a:solidFill>
              </a:rPr>
              <a:t>SENSING</a:t>
            </a:r>
            <a:endParaRPr sz="1800"/>
          </a:p>
        </p:txBody>
      </p:sp>
      <p:sp>
        <p:nvSpPr>
          <p:cNvPr id="8" name="Text 5">
            <a:extLst xmlns:a="http://schemas.openxmlformats.org/drawingml/2006/main">
              <a:ext uri="{FF2B5EF4-FFF2-40B4-BE49-F238E27FC236}">
                <a16:creationId xmlns:a16="http://schemas.microsoft.com/office/drawing/2014/main" id="{2BCA8324-5760-4B85-A1BD-ABEE46F5BF50}"/>
              </a:ext>
            </a:extLst>
          </p:cNvPr>
          <p:cNvSpPr>
            <a:spLocks xmlns:a="http://schemas.openxmlformats.org/drawingml/2006/main" noGrp="1"/>
          </p:cNvSpPr>
          <p:nvPr/>
        </p:nvSpPr>
        <p:spPr>
          <a:xfrm xmlns:a="http://schemas.openxmlformats.org/drawingml/2006/main">
            <a:off x="685800" y="2148840"/>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accent2"/>
                </a:solidFill>
              </a:rPr>
              <a:t>Sensing node</a:t>
            </a:r>
            <a:endParaRPr sz="1600"/>
          </a:p>
        </p:txBody>
      </p:sp>
      <p:sp>
        <p:nvSpPr>
          <p:cNvPr id="9" name="Text 6">
            <a:extLst xmlns:a="http://schemas.openxmlformats.org/drawingml/2006/main">
              <a:ext uri="{FF2B5EF4-FFF2-40B4-BE49-F238E27FC236}">
                <a16:creationId xmlns:a16="http://schemas.microsoft.com/office/drawing/2014/main" id="{12487412-2FB9-499C-B81A-CCF887396A38}"/>
              </a:ext>
            </a:extLst>
          </p:cNvPr>
          <p:cNvSpPr>
            <a:spLocks xmlns:a="http://schemas.openxmlformats.org/drawingml/2006/main" noGrp="1"/>
          </p:cNvSpPr>
          <p:nvPr/>
        </p:nvSpPr>
        <p:spPr>
          <a:xfrm xmlns:a="http://schemas.openxmlformats.org/drawingml/2006/main">
            <a:off x="685800" y="2606040"/>
            <a:ext cx="21031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1"/>
                </a:solidFill>
              </a:rPr>
              <a:t>3× ToF, sonar, IMU</a:t>
            </a:r>
            <a:endParaRPr sz="1400"/>
          </a:p>
          <a:p xmlns:a="http://schemas.openxmlformats.org/drawingml/2006/main">
            <a:pPr marL="0" indent="0">
              <a:buNone/>
            </a:pPr>
            <a:r>
              <a:rPr sz="1400">
                <a:solidFill>
                  <a:schemeClr val="tx1"/>
                </a:solidFill>
              </a:rPr>
              <a:t>Filtering and features</a:t>
            </a:r>
            <a:endParaRPr sz="1400"/>
          </a:p>
        </p:txBody>
      </p:sp>
      <p:sp>
        <p:nvSpPr>
          <p:cNvPr id="10" name="Shape 7">
            <a:extLst xmlns:a="http://schemas.openxmlformats.org/drawingml/2006/main">
              <a:ext uri="{FF2B5EF4-FFF2-40B4-BE49-F238E27FC236}">
                <a16:creationId xmlns:a16="http://schemas.microsoft.com/office/drawing/2014/main" id="{A24A0860-3BC2-4E2E-9EC6-3287B3DF0FED}"/>
              </a:ext>
            </a:extLst>
          </p:cNvPr>
          <p:cNvSpPr>
            <a:spLocks xmlns:a="http://schemas.openxmlformats.org/drawingml/2006/main" noGrp="1"/>
          </p:cNvSpPr>
          <p:nvPr/>
        </p:nvSpPr>
        <p:spPr>
          <a:xfrm xmlns:a="http://schemas.openxmlformats.org/drawingml/2006/main">
            <a:off x="2944368" y="2423160"/>
            <a:ext cx="374904" cy="0"/>
          </a:xfrm>
          <a:prstGeom xmlns:a="http://schemas.openxmlformats.org/drawingml/2006/main" prst="line">
            <a:avLst/>
          </a:prstGeom>
          <a:noFill xmlns:a="http://schemas.openxmlformats.org/drawingml/2006/main"/>
          <a:ln xmlns:a="http://schemas.openxmlformats.org/drawingml/2006/main" w="25400">
            <a:solidFill>
              <a:schemeClr val="accent1"/>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1" name="dom1">
            <a:extLst xmlns:a="http://schemas.openxmlformats.org/drawingml/2006/main">
              <a:ext uri="{FF2B5EF4-FFF2-40B4-BE49-F238E27FC236}">
                <a16:creationId xmlns:a16="http://schemas.microsoft.com/office/drawing/2014/main" id="{E9C57764-AAA8-48C1-88E7-A979B0EBC11A}"/>
              </a:ext>
            </a:extLst>
          </p:cNvPr>
          <p:cNvSpPr>
            <a:spLocks xmlns:a="http://schemas.openxmlformats.org/drawingml/2006/main" noGrp="1"/>
          </p:cNvSpPr>
          <p:nvPr/>
        </p:nvSpPr>
        <p:spPr>
          <a:xfrm xmlns:a="http://schemas.openxmlformats.org/drawingml/2006/main">
            <a:off x="3337560" y="1280160"/>
            <a:ext cx="2468880" cy="2286000"/>
          </a:xfrm>
          <a:prstGeom xmlns:a="http://schemas.openxmlformats.org/drawingml/2006/main" prst="roundRect">
            <a:avLst>
              <a:gd name="adj" fmla="val 4800"/>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2FD373B1-987C-4100-9A4E-64D4294E4621}"/>
              </a:ext>
            </a:extLst>
          </p:cNvPr>
          <p:cNvSpPr>
            <a:spLocks xmlns:a="http://schemas.openxmlformats.org/drawingml/2006/main" noGrp="1"/>
          </p:cNvSpPr>
          <p:nvPr/>
        </p:nvSpPr>
        <p:spPr>
          <a:xfrm xmlns:a="http://schemas.openxmlformats.org/drawingml/2006/main">
            <a:off x="3520440" y="1463040"/>
            <a:ext cx="457200" cy="457200"/>
          </a:xfrm>
          <a:prstGeom xmlns:a="http://schemas.openxmlformats.org/drawingml/2006/main" prst="ellipse">
            <a:avLst/>
          </a:prstGeom>
          <a:solidFill xmlns:a="http://schemas.openxmlformats.org/drawingml/2006/main">
            <a:schemeClr val="accent2"/>
          </a:solidFill>
          <a:ln xmlns:a="http://schemas.openxmlformats.org/drawingml/2006/main" w="12700">
            <a:solidFill>
              <a:schemeClr val="accent2"/>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B5883F1F-F81C-425B-85F8-6B9DA87249B3}"/>
              </a:ext>
            </a:extLst>
          </p:cNvPr>
          <p:cNvSpPr>
            <a:spLocks xmlns:a="http://schemas.openxmlformats.org/drawingml/2006/main" noGrp="1"/>
          </p:cNvSpPr>
          <p:nvPr/>
        </p:nvSpPr>
        <p:spPr>
          <a:xfrm xmlns:a="http://schemas.openxmlformats.org/drawingml/2006/main">
            <a:off x="3520440" y="146304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2</a:t>
            </a:r>
            <a:endParaRPr sz="1400"/>
          </a:p>
        </p:txBody>
      </p:sp>
      <p:sp>
        <p:nvSpPr>
          <p:cNvPr id="14" name="Text 11">
            <a:extLst xmlns:a="http://schemas.openxmlformats.org/drawingml/2006/main">
              <a:ext uri="{FF2B5EF4-FFF2-40B4-BE49-F238E27FC236}">
                <a16:creationId xmlns:a16="http://schemas.microsoft.com/office/drawing/2014/main" id="{8A466CF0-DE9E-4AFE-9802-8E5D848B91AB}"/>
              </a:ext>
            </a:extLst>
          </p:cNvPr>
          <p:cNvSpPr>
            <a:spLocks xmlns:a="http://schemas.openxmlformats.org/drawingml/2006/main" noGrp="1"/>
          </p:cNvSpPr>
          <p:nvPr/>
        </p:nvSpPr>
        <p:spPr>
          <a:xfrm xmlns:a="http://schemas.openxmlformats.org/drawingml/2006/main">
            <a:off x="4114800" y="1463040"/>
            <a:ext cx="164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chemeClr val="tx1"/>
                </a:solidFill>
              </a:rPr>
              <a:t>INTELLIGENCE</a:t>
            </a:r>
            <a:endParaRPr sz="1800"/>
          </a:p>
        </p:txBody>
      </p:sp>
      <p:sp>
        <p:nvSpPr>
          <p:cNvPr id="15" name="Text 12">
            <a:extLst xmlns:a="http://schemas.openxmlformats.org/drawingml/2006/main">
              <a:ext uri="{FF2B5EF4-FFF2-40B4-BE49-F238E27FC236}">
                <a16:creationId xmlns:a16="http://schemas.microsoft.com/office/drawing/2014/main" id="{BE1E1A27-0797-40E2-9324-753DDCF08485}"/>
              </a:ext>
            </a:extLst>
          </p:cNvPr>
          <p:cNvSpPr>
            <a:spLocks xmlns:a="http://schemas.openxmlformats.org/drawingml/2006/main" noGrp="1"/>
          </p:cNvSpPr>
          <p:nvPr/>
        </p:nvSpPr>
        <p:spPr>
          <a:xfrm xmlns:a="http://schemas.openxmlformats.org/drawingml/2006/main">
            <a:off x="3566160" y="2148840"/>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accent2"/>
                </a:solidFill>
              </a:rPr>
              <a:t>Classifier node</a:t>
            </a:r>
            <a:endParaRPr sz="1600"/>
          </a:p>
        </p:txBody>
      </p:sp>
      <p:sp>
        <p:nvSpPr>
          <p:cNvPr id="16" name="Text 13">
            <a:extLst xmlns:a="http://schemas.openxmlformats.org/drawingml/2006/main">
              <a:ext uri="{FF2B5EF4-FFF2-40B4-BE49-F238E27FC236}">
                <a16:creationId xmlns:a16="http://schemas.microsoft.com/office/drawing/2014/main" id="{588292CE-467E-4CCE-A94B-F579D602AD5C}"/>
              </a:ext>
            </a:extLst>
          </p:cNvPr>
          <p:cNvSpPr>
            <a:spLocks xmlns:a="http://schemas.openxmlformats.org/drawingml/2006/main" noGrp="1"/>
          </p:cNvSpPr>
          <p:nvPr/>
        </p:nvSpPr>
        <p:spPr>
          <a:xfrm xmlns:a="http://schemas.openxmlformats.org/drawingml/2006/main">
            <a:off x="3566160" y="2606040"/>
            <a:ext cx="21031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1"/>
                </a:solidFill>
              </a:rPr>
              <a:t>Decision tree in C++</a:t>
            </a:r>
            <a:endParaRPr sz="1400"/>
          </a:p>
          <a:p xmlns:a="http://schemas.openxmlformats.org/drawingml/2006/main">
            <a:pPr marL="0" indent="0">
              <a:buNone/>
            </a:pPr>
            <a:r>
              <a:rPr sz="1400">
                <a:solidFill>
                  <a:schemeClr val="tx1"/>
                </a:solidFill>
              </a:rPr>
              <a:t>Verdict + abort flag</a:t>
            </a:r>
            <a:endParaRPr sz="1400"/>
          </a:p>
        </p:txBody>
      </p:sp>
      <p:sp>
        <p:nvSpPr>
          <p:cNvPr id="17" name="Shape 14">
            <a:extLst xmlns:a="http://schemas.openxmlformats.org/drawingml/2006/main">
              <a:ext uri="{FF2B5EF4-FFF2-40B4-BE49-F238E27FC236}">
                <a16:creationId xmlns:a16="http://schemas.microsoft.com/office/drawing/2014/main" id="{6DF82198-A62A-4B1B-8EB5-160CF4FFCA8C}"/>
              </a:ext>
            </a:extLst>
          </p:cNvPr>
          <p:cNvSpPr>
            <a:spLocks xmlns:a="http://schemas.openxmlformats.org/drawingml/2006/main" noGrp="1"/>
          </p:cNvSpPr>
          <p:nvPr/>
        </p:nvSpPr>
        <p:spPr>
          <a:xfrm xmlns:a="http://schemas.openxmlformats.org/drawingml/2006/main">
            <a:off x="5824728" y="2423160"/>
            <a:ext cx="374904" cy="0"/>
          </a:xfrm>
          <a:prstGeom xmlns:a="http://schemas.openxmlformats.org/drawingml/2006/main" prst="line">
            <a:avLst/>
          </a:prstGeom>
          <a:noFill xmlns:a="http://schemas.openxmlformats.org/drawingml/2006/main"/>
          <a:ln xmlns:a="http://schemas.openxmlformats.org/drawingml/2006/main" w="25400">
            <a:solidFill>
              <a:schemeClr val="accent1"/>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8" name="dom2">
            <a:extLst xmlns:a="http://schemas.openxmlformats.org/drawingml/2006/main">
              <a:ext uri="{FF2B5EF4-FFF2-40B4-BE49-F238E27FC236}">
                <a16:creationId xmlns:a16="http://schemas.microsoft.com/office/drawing/2014/main" id="{B4C296B8-A5E3-4C30-8AA3-8C2CBB65F246}"/>
              </a:ext>
            </a:extLst>
          </p:cNvPr>
          <p:cNvSpPr>
            <a:spLocks xmlns:a="http://schemas.openxmlformats.org/drawingml/2006/main" noGrp="1"/>
          </p:cNvSpPr>
          <p:nvPr/>
        </p:nvSpPr>
        <p:spPr>
          <a:xfrm xmlns:a="http://schemas.openxmlformats.org/drawingml/2006/main">
            <a:off x="6217920" y="1280160"/>
            <a:ext cx="2468880" cy="2286000"/>
          </a:xfrm>
          <a:prstGeom xmlns:a="http://schemas.openxmlformats.org/drawingml/2006/main" prst="roundRect">
            <a:avLst>
              <a:gd name="adj" fmla="val 4800"/>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Shape 16">
            <a:extLst xmlns:a="http://schemas.openxmlformats.org/drawingml/2006/main">
              <a:ext uri="{FF2B5EF4-FFF2-40B4-BE49-F238E27FC236}">
                <a16:creationId xmlns:a16="http://schemas.microsoft.com/office/drawing/2014/main" id="{27893869-2326-4B94-8DCF-A5163BFECEA3}"/>
              </a:ext>
            </a:extLst>
          </p:cNvPr>
          <p:cNvSpPr>
            <a:spLocks xmlns:a="http://schemas.openxmlformats.org/drawingml/2006/main" noGrp="1"/>
          </p:cNvSpPr>
          <p:nvPr/>
        </p:nvSpPr>
        <p:spPr>
          <a:xfrm xmlns:a="http://schemas.openxmlformats.org/drawingml/2006/main">
            <a:off x="6400800" y="1463040"/>
            <a:ext cx="457200" cy="457200"/>
          </a:xfrm>
          <a:prstGeom xmlns:a="http://schemas.openxmlformats.org/drawingml/2006/main" prst="ellipse">
            <a:avLst/>
          </a:prstGeom>
          <a:solidFill xmlns:a="http://schemas.openxmlformats.org/drawingml/2006/main">
            <a:schemeClr val="accent2"/>
          </a:solidFill>
          <a:ln xmlns:a="http://schemas.openxmlformats.org/drawingml/2006/main" w="12700">
            <a:solidFill>
              <a:schemeClr val="accent2"/>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7">
            <a:extLst xmlns:a="http://schemas.openxmlformats.org/drawingml/2006/main">
              <a:ext uri="{FF2B5EF4-FFF2-40B4-BE49-F238E27FC236}">
                <a16:creationId xmlns:a16="http://schemas.microsoft.com/office/drawing/2014/main" id="{A3CBF7A1-C6F0-4F8E-BB0A-3450333113A2}"/>
              </a:ext>
            </a:extLst>
          </p:cNvPr>
          <p:cNvSpPr>
            <a:spLocks xmlns:a="http://schemas.openxmlformats.org/drawingml/2006/main" noGrp="1"/>
          </p:cNvSpPr>
          <p:nvPr/>
        </p:nvSpPr>
        <p:spPr>
          <a:xfrm xmlns:a="http://schemas.openxmlformats.org/drawingml/2006/main">
            <a:off x="6400800" y="146304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3</a:t>
            </a:r>
            <a:endParaRPr sz="1400"/>
          </a:p>
        </p:txBody>
      </p:sp>
      <p:sp>
        <p:nvSpPr>
          <p:cNvPr id="21" name="Text 18">
            <a:extLst xmlns:a="http://schemas.openxmlformats.org/drawingml/2006/main">
              <a:ext uri="{FF2B5EF4-FFF2-40B4-BE49-F238E27FC236}">
                <a16:creationId xmlns:a16="http://schemas.microsoft.com/office/drawing/2014/main" id="{442B1CDC-CBC7-4C3D-B22C-D9E685BCEB6B}"/>
              </a:ext>
            </a:extLst>
          </p:cNvPr>
          <p:cNvSpPr>
            <a:spLocks xmlns:a="http://schemas.openxmlformats.org/drawingml/2006/main" noGrp="1"/>
          </p:cNvSpPr>
          <p:nvPr/>
        </p:nvSpPr>
        <p:spPr>
          <a:xfrm xmlns:a="http://schemas.openxmlformats.org/drawingml/2006/main">
            <a:off x="6995160" y="1463040"/>
            <a:ext cx="164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chemeClr val="tx1"/>
                </a:solidFill>
              </a:rPr>
              <a:t>CONTROL</a:t>
            </a:r>
            <a:endParaRPr sz="1800"/>
          </a:p>
        </p:txBody>
      </p:sp>
      <p:sp>
        <p:nvSpPr>
          <p:cNvPr id="22" name="Text 19">
            <a:extLst xmlns:a="http://schemas.openxmlformats.org/drawingml/2006/main">
              <a:ext uri="{FF2B5EF4-FFF2-40B4-BE49-F238E27FC236}">
                <a16:creationId xmlns:a16="http://schemas.microsoft.com/office/drawing/2014/main" id="{B669BBB9-A6F8-4F92-921B-D251D266CB1D}"/>
              </a:ext>
            </a:extLst>
          </p:cNvPr>
          <p:cNvSpPr>
            <a:spLocks xmlns:a="http://schemas.openxmlformats.org/drawingml/2006/main" noGrp="1"/>
          </p:cNvSpPr>
          <p:nvPr/>
        </p:nvSpPr>
        <p:spPr>
          <a:xfrm xmlns:a="http://schemas.openxmlformats.org/drawingml/2006/main">
            <a:off x="6446520" y="2148840"/>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accent2"/>
                </a:solidFill>
              </a:rPr>
              <a:t>Control nodes</a:t>
            </a:r>
            <a:endParaRPr sz="1600"/>
          </a:p>
        </p:txBody>
      </p:sp>
      <p:sp>
        <p:nvSpPr>
          <p:cNvPr id="23" name="Text 20">
            <a:extLst xmlns:a="http://schemas.openxmlformats.org/drawingml/2006/main">
              <a:ext uri="{FF2B5EF4-FFF2-40B4-BE49-F238E27FC236}">
                <a16:creationId xmlns:a16="http://schemas.microsoft.com/office/drawing/2014/main" id="{6EDFA3D6-2381-49FC-82BE-4946E17E1D0A}"/>
              </a:ext>
            </a:extLst>
          </p:cNvPr>
          <p:cNvSpPr>
            <a:spLocks xmlns:a="http://schemas.openxmlformats.org/drawingml/2006/main" noGrp="1"/>
          </p:cNvSpPr>
          <p:nvPr/>
        </p:nvSpPr>
        <p:spPr>
          <a:xfrm xmlns:a="http://schemas.openxmlformats.org/drawingml/2006/main">
            <a:off x="6446520" y="2606040"/>
            <a:ext cx="21031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1"/>
                </a:solidFill>
              </a:rPr>
              <a:t>Pitch PID and gear</a:t>
            </a:r>
            <a:endParaRPr sz="1400"/>
          </a:p>
          <a:p xmlns:a="http://schemas.openxmlformats.org/drawingml/2006/main">
            <a:pPr marL="0" indent="0">
              <a:buNone/>
            </a:pPr>
            <a:r>
              <a:rPr sz="1400">
                <a:solidFill>
                  <a:schemeClr val="tx1"/>
                </a:solidFill>
              </a:rPr>
              <a:t>Flight supervisor</a:t>
            </a:r>
            <a:endParaRPr sz="1400"/>
          </a:p>
        </p:txBody>
      </p:sp>
      <p:sp>
        <p:nvSpPr>
          <p:cNvPr id="24" name="bar">
            <a:extLst xmlns:a="http://schemas.openxmlformats.org/drawingml/2006/main">
              <a:ext uri="{FF2B5EF4-FFF2-40B4-BE49-F238E27FC236}">
                <a16:creationId xmlns:a16="http://schemas.microsoft.com/office/drawing/2014/main" id="{6F8A58A8-DB92-4AEA-9D52-B3FCDCBA12E1}"/>
              </a:ext>
            </a:extLst>
          </p:cNvPr>
          <p:cNvSpPr>
            <a:spLocks xmlns:a="http://schemas.openxmlformats.org/drawingml/2006/main" noGrp="1"/>
          </p:cNvSpPr>
          <p:nvPr/>
        </p:nvSpPr>
        <p:spPr>
          <a:xfrm xmlns:a="http://schemas.openxmlformats.org/drawingml/2006/main">
            <a:off x="457200" y="3840480"/>
            <a:ext cx="8229600" cy="685800"/>
          </a:xfrm>
          <a:prstGeom xmlns:a="http://schemas.openxmlformats.org/drawingml/2006/main" prst="roundRect">
            <a:avLst>
              <a:gd name="adj" fmla="val 16000"/>
            </a:avLst>
          </a:prstGeom>
          <a:solidFill xmlns:a="http://schemas.openxmlformats.org/drawingml/2006/main">
            <a:schemeClr val="tx2"/>
          </a:solidFill>
          <a:ln xmlns:a="http://schemas.openxmlformats.org/drawingml/2006/main" w="12700">
            <a:solidFill>
              <a:schemeClr val="tx2"/>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2">
            <a:extLst xmlns:a="http://schemas.openxmlformats.org/drawingml/2006/main">
              <a:ext uri="{FF2B5EF4-FFF2-40B4-BE49-F238E27FC236}">
                <a16:creationId xmlns:a16="http://schemas.microsoft.com/office/drawing/2014/main" id="{A1399D40-23F0-4548-AEEE-5104EAF96AF2}"/>
              </a:ext>
            </a:extLst>
          </p:cNvPr>
          <p:cNvSpPr>
            <a:spLocks xmlns:a="http://schemas.openxmlformats.org/drawingml/2006/main" noGrp="1"/>
          </p:cNvSpPr>
          <p:nvPr/>
        </p:nvSpPr>
        <p:spPr>
          <a:xfrm xmlns:a="http://schemas.openxmlformats.org/drawingml/2006/main">
            <a:off x="640080" y="3840480"/>
            <a:ext cx="78638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bg1"/>
                </a:solidFill>
              </a:rPr>
              <a:t>ROS 2 Jazzy and Gazebo Harmonic on a PC. Pico / Pi / Uno describe the original board plan.</a:t>
            </a:r>
            <a:endParaRPr sz="1400"/>
          </a:p>
        </p:txBody>
      </p:sp>
      <p:sp>
        <p:nvSpPr>
          <p:cNvPr id="3" name="Slide Number Placeholder 0">
            <a:extLst xmlns:a="http://schemas.openxmlformats.org/drawingml/2006/main">
              <a:ext uri="{FF2B5EF4-FFF2-40B4-BE49-F238E27FC236}">
                <a16:creationId xmlns:a16="http://schemas.microsoft.com/office/drawing/2014/main" id="{E465BB5D-D84B-4EAA-BE97-5EB85548D2C8}"/>
              </a:ext>
            </a:extLst>
          </p:cNvPr>
          <p:cNvSpPr>
            <a:spLocks xmlns:a="http://schemas.openxmlformats.org/drawingml/2006/main" noGrp="1"/>
          </p:cNvSpPr>
          <p:nvPr>
            <p:ph type="sldNum" idx="4294967295"/>
          </p:nvPr>
        </p:nvSpPr>
        <p:spPr>
          <a:xfrm xmlns:a="http://schemas.openxmlformats.org/drawingml/2006/main">
            <a:off x="8321040" y="480060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6"/>
                </a:solidFill>
              </a:defRPr>
            </a:lvl1pPr>
          </a:lstStyle>
          <a:p xmlns:a="http://schemas.openxmlformats.org/drawingml/2006/main">
            <a:pPr algn="l">
              <a:buNone/>
            </a:pPr>
            <a:fld id="{202359C0-8A7A-196E-DD58-8E6569619F09}" type="slidenum">
              <a:rPr b="0"/>
              <a:t>3</a:t>
            </a:fld>
            <a:endParaRPr/>
          </a:p>
        </p:txBody>
      </p:sp>
    </p:spTree>
    <p:extLst>
      <p:ext uri="{BB962C8B-B14F-4D97-AF65-F5344CB8AC3E}">
        <p14:creationId xmlns:p14="http://schemas.microsoft.com/office/powerpoint/2010/main" val="10855733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411859-51EC-4D1A-A427-0547EB37FCE8}"/>
              </a:ext>
            </a:extLst>
          </p:cNvPr>
          <p:cNvSpPr>
            <a:spLocks xmlns:a="http://schemas.openxmlformats.org/drawingml/2006/main" noGrp="1"/>
          </p:cNvSpPr>
          <p:nvPr/>
        </p:nvSpPr>
        <p:spPr>
          <a:xfrm xmlns:a="http://schemas.openxmlformats.org/drawingml/2006/main">
            <a:off x="457200" y="27432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200" b="1">
                <a:solidFill>
                  <a:schemeClr val="tx1"/>
                </a:solidFill>
              </a:rPr>
              <a:t>Simulation classifier and results</a:t>
            </a:r>
            <a:endParaRPr sz="3200"/>
          </a:p>
        </p:txBody>
      </p:sp>
      <p:sp>
        <p:nvSpPr>
          <p:cNvPr id="4" name="Shape 1">
            <a:extLst xmlns:a="http://schemas.openxmlformats.org/drawingml/2006/main">
              <a:ext uri="{FF2B5EF4-FFF2-40B4-BE49-F238E27FC236}">
                <a16:creationId xmlns:a16="http://schemas.microsoft.com/office/drawing/2014/main" id="{E896CA15-D100-4B1F-8FFB-DCA47724139B}"/>
              </a:ext>
            </a:extLst>
          </p:cNvPr>
          <p:cNvSpPr>
            <a:spLocks xmlns:a="http://schemas.openxmlformats.org/drawingml/2006/main" noGrp="1"/>
          </p:cNvSpPr>
          <p:nvPr/>
        </p:nvSpPr>
        <p:spPr>
          <a:xfrm xmlns:a="http://schemas.openxmlformats.org/drawingml/2006/main">
            <a:off x="914400" y="1234440"/>
            <a:ext cx="3108960" cy="685800"/>
          </a:xfrm>
          <a:prstGeom xmlns:a="http://schemas.openxmlformats.org/drawingml/2006/main" prst="roundRect">
            <a:avLst>
              <a:gd name="adj" fmla="val 13333"/>
            </a:avLst>
          </a:prstGeom>
          <a:solidFill xmlns:a="http://schemas.openxmlformats.org/drawingml/2006/main">
            <a:schemeClr val="tx2"/>
          </a:solidFill>
          <a:ln xmlns:a="http://schemas.openxmlformats.org/drawingml/2006/main" w="12700">
            <a:solidFill>
              <a:schemeClr val="tx2"/>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6EC1C083-2E2C-47E7-8E59-7767A943F81A}"/>
              </a:ext>
            </a:extLst>
          </p:cNvPr>
          <p:cNvSpPr>
            <a:spLocks xmlns:a="http://schemas.openxmlformats.org/drawingml/2006/main" noGrp="1"/>
          </p:cNvSpPr>
          <p:nvPr/>
        </p:nvSpPr>
        <p:spPr>
          <a:xfrm xmlns:a="http://schemas.openxmlformats.org/drawingml/2006/main">
            <a:off x="914400" y="1234440"/>
            <a:ext cx="3108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tilt error ≤ 0.138 rad (7.9°)?</a:t>
            </a:r>
            <a:endParaRPr sz="1400"/>
          </a:p>
        </p:txBody>
      </p:sp>
      <p:sp>
        <p:nvSpPr>
          <p:cNvPr id="6" name="Shape 3">
            <a:extLst xmlns:a="http://schemas.openxmlformats.org/drawingml/2006/main">
              <a:ext uri="{FF2B5EF4-FFF2-40B4-BE49-F238E27FC236}">
                <a16:creationId xmlns:a16="http://schemas.microsoft.com/office/drawing/2014/main" id="{B4882485-B389-4EF5-ACA5-AB3CDF23A184}"/>
              </a:ext>
            </a:extLst>
          </p:cNvPr>
          <p:cNvSpPr>
            <a:spLocks xmlns:a="http://schemas.openxmlformats.org/drawingml/2006/main" noGrp="1"/>
          </p:cNvSpPr>
          <p:nvPr/>
        </p:nvSpPr>
        <p:spPr>
          <a:xfrm xmlns:a="http://schemas.openxmlformats.org/drawingml/2006/main">
            <a:off x="365760" y="2514600"/>
            <a:ext cx="1371600" cy="640080"/>
          </a:xfrm>
          <a:prstGeom xmlns:a="http://schemas.openxmlformats.org/drawingml/2006/main" prst="roundRect">
            <a:avLst>
              <a:gd name="adj" fmla="val 14286"/>
            </a:avLst>
          </a:prstGeom>
          <a:solidFill xmlns:a="http://schemas.openxmlformats.org/drawingml/2006/main">
            <a:schemeClr val="accent4"/>
          </a:solidFill>
          <a:ln xmlns:a="http://schemas.openxmlformats.org/drawingml/2006/main" w="12700">
            <a:solidFill>
              <a:schemeClr val="accent4"/>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4">
            <a:extLst xmlns:a="http://schemas.openxmlformats.org/drawingml/2006/main">
              <a:ext uri="{FF2B5EF4-FFF2-40B4-BE49-F238E27FC236}">
                <a16:creationId xmlns:a16="http://schemas.microsoft.com/office/drawing/2014/main" id="{7731016B-9917-493D-A73B-535C3BC85AA6}"/>
              </a:ext>
            </a:extLst>
          </p:cNvPr>
          <p:cNvSpPr>
            <a:spLocks xmlns:a="http://schemas.openxmlformats.org/drawingml/2006/main" noGrp="1"/>
          </p:cNvSpPr>
          <p:nvPr/>
        </p:nvSpPr>
        <p:spPr>
          <a:xfrm xmlns:a="http://schemas.openxmlformats.org/drawingml/2006/main">
            <a:off x="365760" y="2514600"/>
            <a:ext cx="1371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SAFE</a:t>
            </a:r>
            <a:endParaRPr sz="1400"/>
          </a:p>
        </p:txBody>
      </p:sp>
      <p:sp>
        <p:nvSpPr>
          <p:cNvPr id="8" name="Shape 5">
            <a:extLst xmlns:a="http://schemas.openxmlformats.org/drawingml/2006/main">
              <a:ext uri="{FF2B5EF4-FFF2-40B4-BE49-F238E27FC236}">
                <a16:creationId xmlns:a16="http://schemas.microsoft.com/office/drawing/2014/main" id="{D05CF841-4348-41C1-99A8-62098C09B64B}"/>
              </a:ext>
            </a:extLst>
          </p:cNvPr>
          <p:cNvSpPr>
            <a:spLocks xmlns:a="http://schemas.openxmlformats.org/drawingml/2006/main" noGrp="1"/>
          </p:cNvSpPr>
          <p:nvPr/>
        </p:nvSpPr>
        <p:spPr>
          <a:xfrm xmlns:a="http://schemas.openxmlformats.org/drawingml/2006/main">
            <a:off x="2743200" y="2423160"/>
            <a:ext cx="2286000" cy="685800"/>
          </a:xfrm>
          <a:prstGeom xmlns:a="http://schemas.openxmlformats.org/drawingml/2006/main" prst="roundRect">
            <a:avLst>
              <a:gd name="adj" fmla="val 13333"/>
            </a:avLst>
          </a:prstGeom>
          <a:solidFill xmlns:a="http://schemas.openxmlformats.org/drawingml/2006/main">
            <a:schemeClr val="tx2"/>
          </a:solidFill>
          <a:ln xmlns:a="http://schemas.openxmlformats.org/drawingml/2006/main" w="12700">
            <a:solidFill>
              <a:schemeClr val="tx2"/>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6">
            <a:extLst xmlns:a="http://schemas.openxmlformats.org/drawingml/2006/main">
              <a:ext uri="{FF2B5EF4-FFF2-40B4-BE49-F238E27FC236}">
                <a16:creationId xmlns:a16="http://schemas.microsoft.com/office/drawing/2014/main" id="{759AD65F-B9E9-4049-B007-C1534E60C793}"/>
              </a:ext>
            </a:extLst>
          </p:cNvPr>
          <p:cNvSpPr>
            <a:spLocks xmlns:a="http://schemas.openxmlformats.org/drawingml/2006/main" noGrp="1"/>
          </p:cNvSpPr>
          <p:nvPr/>
        </p:nvSpPr>
        <p:spPr>
          <a:xfrm xmlns:a="http://schemas.openxmlformats.org/drawingml/2006/main">
            <a:off x="2743200" y="2423160"/>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spatial var ≤ 0.00078 m²?</a:t>
            </a:r>
            <a:endParaRPr sz="1400"/>
          </a:p>
        </p:txBody>
      </p:sp>
      <p:sp>
        <p:nvSpPr>
          <p:cNvPr id="10" name="Shape 7">
            <a:extLst xmlns:a="http://schemas.openxmlformats.org/drawingml/2006/main">
              <a:ext uri="{FF2B5EF4-FFF2-40B4-BE49-F238E27FC236}">
                <a16:creationId xmlns:a16="http://schemas.microsoft.com/office/drawing/2014/main" id="{16436828-FAE9-44EF-B0F0-0A052B478701}"/>
              </a:ext>
            </a:extLst>
          </p:cNvPr>
          <p:cNvSpPr>
            <a:spLocks xmlns:a="http://schemas.openxmlformats.org/drawingml/2006/main" noGrp="1"/>
          </p:cNvSpPr>
          <p:nvPr/>
        </p:nvSpPr>
        <p:spPr>
          <a:xfrm xmlns:a="http://schemas.openxmlformats.org/drawingml/2006/main">
            <a:off x="2286000" y="3611880"/>
            <a:ext cx="1280160" cy="685800"/>
          </a:xfrm>
          <a:prstGeom xmlns:a="http://schemas.openxmlformats.org/drawingml/2006/main" prst="roundRect">
            <a:avLst>
              <a:gd name="adj" fmla="val 13333"/>
            </a:avLst>
          </a:prstGeom>
          <a:solidFill xmlns:a="http://schemas.openxmlformats.org/drawingml/2006/main">
            <a:schemeClr val="accent3"/>
          </a:solidFill>
          <a:ln xmlns:a="http://schemas.openxmlformats.org/drawingml/2006/main" w="12700">
            <a:solidFill>
              <a:schemeClr val="accent3"/>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4B959861-3389-4DA5-86DD-291CBAD0326E}"/>
              </a:ext>
            </a:extLst>
          </p:cNvPr>
          <p:cNvSpPr>
            <a:spLocks xmlns:a="http://schemas.openxmlformats.org/drawingml/2006/main" noGrp="1"/>
          </p:cNvSpPr>
          <p:nvPr/>
        </p:nvSpPr>
        <p:spPr>
          <a:xfrm xmlns:a="http://schemas.openxmlformats.org/drawingml/2006/main">
            <a:off x="2286000" y="3611880"/>
            <a:ext cx="1280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UNSAFE</a:t>
            </a:r>
            <a:endParaRPr sz="1400"/>
          </a:p>
          <a:p xmlns:a="http://schemas.openxmlformats.org/drawingml/2006/main">
            <a:pPr marL="0" indent="0" algn="ctr">
              <a:buNone/>
            </a:pPr>
            <a:r>
              <a:rPr sz="1400" b="1">
                <a:solidFill>
                  <a:schemeClr val="bg1"/>
                </a:solidFill>
              </a:rPr>
              <a:t>slope</a:t>
            </a:r>
            <a:endParaRPr sz="1400"/>
          </a:p>
        </p:txBody>
      </p:sp>
      <p:sp>
        <p:nvSpPr>
          <p:cNvPr id="12" name="Shape 9">
            <a:extLst xmlns:a="http://schemas.openxmlformats.org/drawingml/2006/main">
              <a:ext uri="{FF2B5EF4-FFF2-40B4-BE49-F238E27FC236}">
                <a16:creationId xmlns:a16="http://schemas.microsoft.com/office/drawing/2014/main" id="{2F8860BA-861F-45D0-8420-15CA42A909AC}"/>
              </a:ext>
            </a:extLst>
          </p:cNvPr>
          <p:cNvSpPr>
            <a:spLocks xmlns:a="http://schemas.openxmlformats.org/drawingml/2006/main" noGrp="1"/>
          </p:cNvSpPr>
          <p:nvPr/>
        </p:nvSpPr>
        <p:spPr>
          <a:xfrm xmlns:a="http://schemas.openxmlformats.org/drawingml/2006/main">
            <a:off x="3749040" y="3611880"/>
            <a:ext cx="1371600" cy="685800"/>
          </a:xfrm>
          <a:prstGeom xmlns:a="http://schemas.openxmlformats.org/drawingml/2006/main" prst="roundRect">
            <a:avLst>
              <a:gd name="adj" fmla="val 13333"/>
            </a:avLst>
          </a:prstGeom>
          <a:solidFill xmlns:a="http://schemas.openxmlformats.org/drawingml/2006/main">
            <a:schemeClr val="accent3"/>
          </a:solidFill>
          <a:ln xmlns:a="http://schemas.openxmlformats.org/drawingml/2006/main" w="12700">
            <a:solidFill>
              <a:schemeClr val="accent3"/>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D1D01FF3-B724-4DF5-B36A-8B3CC48352C9}"/>
              </a:ext>
            </a:extLst>
          </p:cNvPr>
          <p:cNvSpPr>
            <a:spLocks xmlns:a="http://schemas.openxmlformats.org/drawingml/2006/main" noGrp="1"/>
          </p:cNvSpPr>
          <p:nvPr/>
        </p:nvSpPr>
        <p:spPr>
          <a:xfrm xmlns:a="http://schemas.openxmlformats.org/drawingml/2006/main">
            <a:off x="3749040" y="3611880"/>
            <a:ext cx="1371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UNSAFE</a:t>
            </a:r>
            <a:endParaRPr sz="1400"/>
          </a:p>
          <a:p xmlns:a="http://schemas.openxmlformats.org/drawingml/2006/main">
            <a:pPr marL="0" indent="0" algn="ctr">
              <a:buNone/>
            </a:pPr>
            <a:r>
              <a:rPr sz="1400" b="1">
                <a:solidFill>
                  <a:schemeClr val="bg1"/>
                </a:solidFill>
              </a:rPr>
              <a:t>vegetation</a:t>
            </a:r>
            <a:endParaRPr sz="1400"/>
          </a:p>
        </p:txBody>
      </p:sp>
      <p:sp>
        <p:nvSpPr>
          <p:cNvPr id="14" name="Shape 11">
            <a:extLst xmlns:a="http://schemas.openxmlformats.org/drawingml/2006/main">
              <a:ext uri="{FF2B5EF4-FFF2-40B4-BE49-F238E27FC236}">
                <a16:creationId xmlns:a16="http://schemas.microsoft.com/office/drawing/2014/main" id="{BE737BAA-601C-447B-AC22-362FD3B31C6F}"/>
              </a:ext>
            </a:extLst>
          </p:cNvPr>
          <p:cNvSpPr>
            <a:spLocks xmlns:a="http://schemas.openxmlformats.org/drawingml/2006/main" noGrp="1"/>
          </p:cNvSpPr>
          <p:nvPr/>
        </p:nvSpPr>
        <p:spPr>
          <a:xfrm xmlns:a="http://schemas.openxmlformats.org/drawingml/2006/main" flipH="1">
            <a:off x="1051560" y="1920240"/>
            <a:ext cx="777240" cy="594360"/>
          </a:xfrm>
          <a:prstGeom xmlns:a="http://schemas.openxmlformats.org/drawingml/2006/main" prst="line">
            <a:avLst/>
          </a:prstGeom>
          <a:noFill xmlns:a="http://schemas.openxmlformats.org/drawingml/2006/main"/>
          <a:ln xmlns:a="http://schemas.openxmlformats.org/drawingml/2006/main" w="25400">
            <a:solidFill>
              <a:schemeClr val="accent6"/>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5" name="Shape 12">
            <a:extLst xmlns:a="http://schemas.openxmlformats.org/drawingml/2006/main">
              <a:ext uri="{FF2B5EF4-FFF2-40B4-BE49-F238E27FC236}">
                <a16:creationId xmlns:a16="http://schemas.microsoft.com/office/drawing/2014/main" id="{D5E679DE-FF2D-4C98-9F3C-1CEF2D32C418}"/>
              </a:ext>
            </a:extLst>
          </p:cNvPr>
          <p:cNvSpPr>
            <a:spLocks xmlns:a="http://schemas.openxmlformats.org/drawingml/2006/main" noGrp="1"/>
          </p:cNvSpPr>
          <p:nvPr/>
        </p:nvSpPr>
        <p:spPr>
          <a:xfrm xmlns:a="http://schemas.openxmlformats.org/drawingml/2006/main">
            <a:off x="3108960" y="1920240"/>
            <a:ext cx="777240" cy="502920"/>
          </a:xfrm>
          <a:prstGeom xmlns:a="http://schemas.openxmlformats.org/drawingml/2006/main" prst="line">
            <a:avLst/>
          </a:prstGeom>
          <a:noFill xmlns:a="http://schemas.openxmlformats.org/drawingml/2006/main"/>
          <a:ln xmlns:a="http://schemas.openxmlformats.org/drawingml/2006/main" w="25400">
            <a:solidFill>
              <a:schemeClr val="accent6"/>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87CBF7A4-82E7-49FA-8796-3EEDDC68B2BD}"/>
              </a:ext>
            </a:extLst>
          </p:cNvPr>
          <p:cNvSpPr>
            <a:spLocks xmlns:a="http://schemas.openxmlformats.org/drawingml/2006/main" noGrp="1"/>
          </p:cNvSpPr>
          <p:nvPr/>
        </p:nvSpPr>
        <p:spPr>
          <a:xfrm xmlns:a="http://schemas.openxmlformats.org/drawingml/2006/main" flipH="1">
            <a:off x="2926080" y="3108960"/>
            <a:ext cx="365760" cy="502920"/>
          </a:xfrm>
          <a:prstGeom xmlns:a="http://schemas.openxmlformats.org/drawingml/2006/main" prst="line">
            <a:avLst/>
          </a:prstGeom>
          <a:noFill xmlns:a="http://schemas.openxmlformats.org/drawingml/2006/main"/>
          <a:ln xmlns:a="http://schemas.openxmlformats.org/drawingml/2006/main" w="25400">
            <a:solidFill>
              <a:schemeClr val="accent6"/>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39CE027A-EA2F-4C47-B4D3-96EDCC3684FA}"/>
              </a:ext>
            </a:extLst>
          </p:cNvPr>
          <p:cNvSpPr>
            <a:spLocks xmlns:a="http://schemas.openxmlformats.org/drawingml/2006/main" noGrp="1"/>
          </p:cNvSpPr>
          <p:nvPr/>
        </p:nvSpPr>
        <p:spPr>
          <a:xfrm xmlns:a="http://schemas.openxmlformats.org/drawingml/2006/main">
            <a:off x="4023360" y="3108960"/>
            <a:ext cx="411480" cy="502920"/>
          </a:xfrm>
          <a:prstGeom xmlns:a="http://schemas.openxmlformats.org/drawingml/2006/main" prst="line">
            <a:avLst/>
          </a:prstGeom>
          <a:noFill xmlns:a="http://schemas.openxmlformats.org/drawingml/2006/main"/>
          <a:ln xmlns:a="http://schemas.openxmlformats.org/drawingml/2006/main" w="25400">
            <a:solidFill>
              <a:schemeClr val="accent6"/>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50CE2931-3E99-4CFD-A836-E1E7253B77BC}"/>
              </a:ext>
            </a:extLst>
          </p:cNvPr>
          <p:cNvSpPr>
            <a:spLocks xmlns:a="http://schemas.openxmlformats.org/drawingml/2006/main" noGrp="1"/>
          </p:cNvSpPr>
          <p:nvPr/>
        </p:nvSpPr>
        <p:spPr>
          <a:xfrm xmlns:a="http://schemas.openxmlformats.org/drawingml/2006/main">
            <a:off x="1188720" y="2057400"/>
            <a:ext cx="457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6"/>
                </a:solidFill>
              </a:rPr>
              <a:t>yes</a:t>
            </a:r>
            <a:endParaRPr sz="1200"/>
          </a:p>
        </p:txBody>
      </p:sp>
      <p:sp>
        <p:nvSpPr>
          <p:cNvPr id="19" name="Text 16">
            <a:extLst xmlns:a="http://schemas.openxmlformats.org/drawingml/2006/main">
              <a:ext uri="{FF2B5EF4-FFF2-40B4-BE49-F238E27FC236}">
                <a16:creationId xmlns:a16="http://schemas.microsoft.com/office/drawing/2014/main" id="{06F811A5-2FD4-4A37-9C0D-445C833B5FD7}"/>
              </a:ext>
            </a:extLst>
          </p:cNvPr>
          <p:cNvSpPr>
            <a:spLocks xmlns:a="http://schemas.openxmlformats.org/drawingml/2006/main" noGrp="1"/>
          </p:cNvSpPr>
          <p:nvPr/>
        </p:nvSpPr>
        <p:spPr>
          <a:xfrm xmlns:a="http://schemas.openxmlformats.org/drawingml/2006/main">
            <a:off x="3611880" y="2011680"/>
            <a:ext cx="457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6"/>
                </a:solidFill>
              </a:rPr>
              <a:t>no</a:t>
            </a:r>
            <a:endParaRPr sz="1200"/>
          </a:p>
        </p:txBody>
      </p:sp>
      <p:sp>
        <p:nvSpPr>
          <p:cNvPr id="20" name="Text 17">
            <a:extLst xmlns:a="http://schemas.openxmlformats.org/drawingml/2006/main">
              <a:ext uri="{FF2B5EF4-FFF2-40B4-BE49-F238E27FC236}">
                <a16:creationId xmlns:a16="http://schemas.microsoft.com/office/drawing/2014/main" id="{E4EB40EA-0074-4016-86C8-485B57A7342A}"/>
              </a:ext>
            </a:extLst>
          </p:cNvPr>
          <p:cNvSpPr>
            <a:spLocks xmlns:a="http://schemas.openxmlformats.org/drawingml/2006/main" noGrp="1"/>
          </p:cNvSpPr>
          <p:nvPr/>
        </p:nvSpPr>
        <p:spPr>
          <a:xfrm xmlns:a="http://schemas.openxmlformats.org/drawingml/2006/main">
            <a:off x="2743200" y="3246120"/>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6"/>
                </a:solidFill>
              </a:rPr>
              <a:t>yes</a:t>
            </a:r>
            <a:endParaRPr sz="1200"/>
          </a:p>
        </p:txBody>
      </p:sp>
      <p:sp>
        <p:nvSpPr>
          <p:cNvPr id="21" name="Text 18">
            <a:extLst xmlns:a="http://schemas.openxmlformats.org/drawingml/2006/main">
              <a:ext uri="{FF2B5EF4-FFF2-40B4-BE49-F238E27FC236}">
                <a16:creationId xmlns:a16="http://schemas.microsoft.com/office/drawing/2014/main" id="{D0919FBE-5337-4BF9-969C-7EDE8CDB0304}"/>
              </a:ext>
            </a:extLst>
          </p:cNvPr>
          <p:cNvSpPr>
            <a:spLocks xmlns:a="http://schemas.openxmlformats.org/drawingml/2006/main" noGrp="1"/>
          </p:cNvSpPr>
          <p:nvPr/>
        </p:nvSpPr>
        <p:spPr>
          <a:xfrm xmlns:a="http://schemas.openxmlformats.org/drawingml/2006/main">
            <a:off x="4297680" y="3200400"/>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6"/>
                </a:solidFill>
              </a:rPr>
              <a:t>no</a:t>
            </a:r>
            <a:endParaRPr sz="1200"/>
          </a:p>
        </p:txBody>
      </p:sp>
      <p:sp>
        <p:nvSpPr>
          <p:cNvPr id="22" name="Text 19">
            <a:extLst xmlns:a="http://schemas.openxmlformats.org/drawingml/2006/main">
              <a:ext uri="{FF2B5EF4-FFF2-40B4-BE49-F238E27FC236}">
                <a16:creationId xmlns:a16="http://schemas.microsoft.com/office/drawing/2014/main" id="{A51DCF86-9AE9-4ABD-A37D-A696B9899062}"/>
              </a:ext>
            </a:extLst>
          </p:cNvPr>
          <p:cNvSpPr>
            <a:spLocks xmlns:a="http://schemas.openxmlformats.org/drawingml/2006/main" noGrp="1"/>
          </p:cNvSpPr>
          <p:nvPr/>
        </p:nvSpPr>
        <p:spPr>
          <a:xfrm xmlns:a="http://schemas.openxmlformats.org/drawingml/2006/main">
            <a:off x="365760" y="448056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a:defPPr>
          </a:lstStyle>
          <a:p xmlns:a="http://schemas.openxmlformats.org/drawingml/2006/main">
            <a:pPr marL="0" indent="0">
              <a:buNone/>
              <a:defRPr sz="1200"/>
            </a:pPr>
            <a:r>
              <a:rPr sz="1200">
                <a:solidFill>
                  <a:schemeClr val="accent6"/>
                </a:solidFill>
              </a:rPr>
              <a:t>1,500 synthetic samples, CART, depth limit 4, 75/25 split</a:t>
            </a:r>
            <a:endParaRPr sz="1200"/>
          </a:p>
        </p:txBody>
      </p:sp>
      <p:pic>
        <p:nvPicPr>
          <p:cNvPr id="23" name="Image 0">
            <a:extLst xmlns:a="http://schemas.openxmlformats.org/drawingml/2006/main">
              <a:ext uri="{FF2B5EF4-FFF2-40B4-BE49-F238E27FC236}">
                <a16:creationId xmlns:a16="http://schemas.microsoft.com/office/drawing/2014/main" id="{1F09FEC6-F5BE-4924-AE03-83CEB744B6A2}"/>
              </a:ext>
            </a:extLst>
          </p:cNvPr>
          <p:cNvPicPr>
            <a:picLocks xmlns:a="http://schemas.openxmlformats.org/drawingml/2006/main" noChangeAspect="1"/>
          </p:cNvPicPr>
          <p:nvPr/>
        </p:nvPicPr>
        <p:blipFill>
          <a:blip xmlns:r="http://schemas.openxmlformats.org/officeDocument/2006/relationships" xmlns:a="http://schemas.openxmlformats.org/drawingml/2006/main" r:embed="Rcfaa92a26c9c44c6"/>
          <a:stretch xmlns:a="http://schemas.openxmlformats.org/drawingml/2006/main">
            <a:fillRect l="0" t="0" r="0" b="0"/>
          </a:stretch>
        </p:blipFill>
        <p:spPr>
          <a:xfrm xmlns:a="http://schemas.openxmlformats.org/drawingml/2006/main">
            <a:off x="5394960" y="1188720"/>
            <a:ext cx="3383280" cy="2542032"/>
          </a:xfrm>
          <a:prstGeom xmlns:a="http://schemas.openxmlformats.org/drawingml/2006/main" prst="rect">
            <a:avLst/>
          </a:prstGeom>
        </p:spPr>
      </p:pic>
      <p:sp>
        <p:nvSpPr>
          <p:cNvPr id="24" name="Text 20">
            <a:extLst xmlns:a="http://schemas.openxmlformats.org/drawingml/2006/main">
              <a:ext uri="{FF2B5EF4-FFF2-40B4-BE49-F238E27FC236}">
                <a16:creationId xmlns:a16="http://schemas.microsoft.com/office/drawing/2014/main" id="{46A9636E-C1F4-4667-804C-08FC08B3859A}"/>
              </a:ext>
            </a:extLst>
          </p:cNvPr>
          <p:cNvSpPr>
            <a:spLocks xmlns:a="http://schemas.openxmlformats.org/drawingml/2006/main" noGrp="1"/>
          </p:cNvSpPr>
          <p:nvPr/>
        </p:nvSpPr>
        <p:spPr>
          <a:xfrm xmlns:a="http://schemas.openxmlformats.org/drawingml/2006/main">
            <a:off x="5394960" y="3840480"/>
            <a:ext cx="3383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400"/>
            </a:defPPr>
          </a:lstStyle>
          <a:p xmlns:a="http://schemas.openxmlformats.org/drawingml/2006/main">
            <a:pPr marL="0" indent="0">
              <a:buNone/>
              <a:defRPr sz="1400"/>
            </a:pPr>
            <a:r>
              <a:rPr sz="1400" b="1">
                <a:solidFill>
                  <a:schemeClr val="tx1"/>
                </a:solidFill>
              </a:rPr>
              <a:t>Reported test split: 375 / 375 correct</a:t>
            </a:r>
            <a:endParaRPr sz="1400"/>
          </a:p>
        </p:txBody>
      </p:sp>
      <p:sp>
        <p:nvSpPr>
          <p:cNvPr id="25" name="Text 21">
            <a:extLst xmlns:a="http://schemas.openxmlformats.org/drawingml/2006/main">
              <a:ext uri="{FF2B5EF4-FFF2-40B4-BE49-F238E27FC236}">
                <a16:creationId xmlns:a16="http://schemas.microsoft.com/office/drawing/2014/main" id="{8BF049C3-674E-4A50-9620-465DFF550E4A}"/>
              </a:ext>
            </a:extLst>
          </p:cNvPr>
          <p:cNvSpPr>
            <a:spLocks xmlns:a="http://schemas.openxmlformats.org/drawingml/2006/main" noGrp="1"/>
          </p:cNvSpPr>
          <p:nvPr/>
        </p:nvSpPr>
        <p:spPr>
          <a:xfrm xmlns:a="http://schemas.openxmlformats.org/drawingml/2006/main">
            <a:off x="5394960" y="4160520"/>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a:defPPr>
          </a:lstStyle>
          <a:p xmlns:a="http://schemas.openxmlformats.org/drawingml/2006/main">
            <a:pPr marL="0" indent="0">
              <a:buNone/>
              <a:defRPr sz="1200"/>
            </a:pPr>
            <a:r>
              <a:rPr sz="1200">
                <a:solidFill>
                  <a:schemeClr val="accent3"/>
                </a:solidFill>
              </a:rPr>
              <a:t>Correlated samples and testbed labels. The tree uses 2 of 7 features. Real terrain performance remains untested.</a:t>
            </a:r>
            <a:endParaRPr sz="1200"/>
          </a:p>
        </p:txBody>
      </p:sp>
      <p:sp>
        <p:nvSpPr>
          <p:cNvPr id="3" name="Slide Number Placeholder 0">
            <a:extLst xmlns:a="http://schemas.openxmlformats.org/drawingml/2006/main">
              <a:ext uri="{FF2B5EF4-FFF2-40B4-BE49-F238E27FC236}">
                <a16:creationId xmlns:a16="http://schemas.microsoft.com/office/drawing/2014/main" id="{EF3A89FB-3219-41E5-A9D7-40C840193589}"/>
              </a:ext>
            </a:extLst>
          </p:cNvPr>
          <p:cNvSpPr>
            <a:spLocks xmlns:a="http://schemas.openxmlformats.org/drawingml/2006/main" noGrp="1"/>
          </p:cNvSpPr>
          <p:nvPr>
            <p:ph type="sldNum" idx="4294967295"/>
          </p:nvPr>
        </p:nvSpPr>
        <p:spPr>
          <a:xfrm xmlns:a="http://schemas.openxmlformats.org/drawingml/2006/main">
            <a:off x="8321040" y="480060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6"/>
                </a:solidFill>
              </a:defRPr>
            </a:lvl1pPr>
          </a:lstStyle>
          <a:p xmlns:a="http://schemas.openxmlformats.org/drawingml/2006/main">
            <a:pPr algn="l">
              <a:buNone/>
            </a:pPr>
            <a:fld id="{EFD6AB9A-5F9E-5F59-51AB-3C8734130965}" type="slidenum">
              <a:rPr b="0"/>
              <a:t>4</a:t>
            </a:fld>
            <a:endParaRPr/>
          </a:p>
        </p:txBody>
      </p:sp>
    </p:spTree>
    <p:extLst>
      <p:ext uri="{BB962C8B-B14F-4D97-AF65-F5344CB8AC3E}">
        <p14:creationId xmlns:p14="http://schemas.microsoft.com/office/powerpoint/2010/main" val="67339391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2B418D7-6773-44AB-87D9-4114D8401BF0}"/>
              </a:ext>
            </a:extLst>
          </p:cNvPr>
          <p:cNvSpPr>
            <a:spLocks xmlns:a="http://schemas.openxmlformats.org/drawingml/2006/main" noGrp="1"/>
          </p:cNvSpPr>
          <p:nvPr/>
        </p:nvSpPr>
        <p:spPr>
          <a:xfrm xmlns:a="http://schemas.openxmlformats.org/drawingml/2006/main">
            <a:off x="457200" y="27432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200" b="1">
                <a:solidFill>
                  <a:schemeClr val="tx1"/>
                </a:solidFill>
              </a:rPr>
              <a:t>Connected hardware prototype</a:t>
            </a:r>
            <a:endParaRPr sz="3200"/>
          </a:p>
        </p:txBody>
      </p:sp>
      <p:sp>
        <p:nvSpPr>
          <p:cNvPr id="4" name="plate">
            <a:extLst xmlns:a="http://schemas.openxmlformats.org/drawingml/2006/main">
              <a:ext uri="{FF2B5EF4-FFF2-40B4-BE49-F238E27FC236}">
                <a16:creationId xmlns:a16="http://schemas.microsoft.com/office/drawing/2014/main" id="{C13471AE-FAAF-402E-AB98-DEF1ACB2033A}"/>
              </a:ext>
            </a:extLst>
          </p:cNvPr>
          <p:cNvSpPr>
            <a:spLocks xmlns:a="http://schemas.openxmlformats.org/drawingml/2006/main" noGrp="1"/>
          </p:cNvSpPr>
          <p:nvPr/>
        </p:nvSpPr>
        <p:spPr>
          <a:xfrm xmlns:a="http://schemas.openxmlformats.org/drawingml/2006/main">
            <a:off x="457200" y="1234440"/>
            <a:ext cx="3291840" cy="3383280"/>
          </a:xfrm>
          <a:prstGeom xmlns:a="http://schemas.openxmlformats.org/drawingml/2006/main" prst="roundRect">
            <a:avLst>
              <a:gd name="adj" fmla="val 3333"/>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0B5D5119-59C6-4FE2-8DA5-2BA2D2E6317B}"/>
              </a:ext>
            </a:extLst>
          </p:cNvPr>
          <p:cNvSpPr>
            <a:spLocks xmlns:a="http://schemas.openxmlformats.org/drawingml/2006/main" noGrp="1"/>
          </p:cNvSpPr>
          <p:nvPr/>
        </p:nvSpPr>
        <p:spPr>
          <a:xfrm xmlns:a="http://schemas.openxmlformats.org/drawingml/2006/main">
            <a:off x="457200" y="137160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chemeClr val="tx1"/>
                </a:solidFill>
              </a:rPr>
              <a:t>Simulation sensor geometry</a:t>
            </a:r>
            <a:endParaRPr sz="1400"/>
          </a:p>
        </p:txBody>
      </p:sp>
      <p:sp>
        <p:nvSpPr>
          <p:cNvPr id="6" name="Shape 3">
            <a:extLst xmlns:a="http://schemas.openxmlformats.org/drawingml/2006/main">
              <a:ext uri="{FF2B5EF4-FFF2-40B4-BE49-F238E27FC236}">
                <a16:creationId xmlns:a16="http://schemas.microsoft.com/office/drawing/2014/main" id="{C2B8E3F1-4C23-46D2-9D02-2464602602B4}"/>
              </a:ext>
            </a:extLst>
          </p:cNvPr>
          <p:cNvSpPr>
            <a:spLocks xmlns:a="http://schemas.openxmlformats.org/drawingml/2006/main" noGrp="1"/>
          </p:cNvSpPr>
          <p:nvPr/>
        </p:nvSpPr>
        <p:spPr>
          <a:xfrm xmlns:a="http://schemas.openxmlformats.org/drawingml/2006/main" flipV="1">
            <a:off x="1225296" y="2066544"/>
            <a:ext cx="877824" cy="1536192"/>
          </a:xfrm>
          <a:prstGeom xmlns:a="http://schemas.openxmlformats.org/drawingml/2006/main" prst="line">
            <a:avLst/>
          </a:prstGeom>
          <a:noFill xmlns:a="http://schemas.openxmlformats.org/drawingml/2006/main"/>
          <a:ln xmlns:a="http://schemas.openxmlformats.org/drawingml/2006/main" w="25400">
            <a:solidFill>
              <a:schemeClr val="accent6"/>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B16E3B51-D087-49B5-B130-FCD76DCF577B}"/>
              </a:ext>
            </a:extLst>
          </p:cNvPr>
          <p:cNvSpPr>
            <a:spLocks xmlns:a="http://schemas.openxmlformats.org/drawingml/2006/main" noGrp="1"/>
          </p:cNvSpPr>
          <p:nvPr/>
        </p:nvSpPr>
        <p:spPr>
          <a:xfrm xmlns:a="http://schemas.openxmlformats.org/drawingml/2006/main">
            <a:off x="2103120" y="2066544"/>
            <a:ext cx="877824" cy="1536192"/>
          </a:xfrm>
          <a:prstGeom xmlns:a="http://schemas.openxmlformats.org/drawingml/2006/main" prst="line">
            <a:avLst/>
          </a:prstGeom>
          <a:noFill xmlns:a="http://schemas.openxmlformats.org/drawingml/2006/main"/>
          <a:ln xmlns:a="http://schemas.openxmlformats.org/drawingml/2006/main" w="25400">
            <a:solidFill>
              <a:schemeClr val="accent6"/>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hape 5">
            <a:extLst xmlns:a="http://schemas.openxmlformats.org/drawingml/2006/main">
              <a:ext uri="{FF2B5EF4-FFF2-40B4-BE49-F238E27FC236}">
                <a16:creationId xmlns:a16="http://schemas.microsoft.com/office/drawing/2014/main" id="{B8031AC5-9997-4904-A4D6-CEA3872EE5F3}"/>
              </a:ext>
            </a:extLst>
          </p:cNvPr>
          <p:cNvSpPr>
            <a:spLocks xmlns:a="http://schemas.openxmlformats.org/drawingml/2006/main" noGrp="1"/>
          </p:cNvSpPr>
          <p:nvPr/>
        </p:nvSpPr>
        <p:spPr>
          <a:xfrm xmlns:a="http://schemas.openxmlformats.org/drawingml/2006/main">
            <a:off x="1225296" y="3602736"/>
            <a:ext cx="1755648" cy="0"/>
          </a:xfrm>
          <a:prstGeom xmlns:a="http://schemas.openxmlformats.org/drawingml/2006/main" prst="line">
            <a:avLst/>
          </a:prstGeom>
          <a:noFill xmlns:a="http://schemas.openxmlformats.org/drawingml/2006/main"/>
          <a:ln xmlns:a="http://schemas.openxmlformats.org/drawingml/2006/main" w="25400">
            <a:solidFill>
              <a:schemeClr val="accent6"/>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6">
            <a:extLst xmlns:a="http://schemas.openxmlformats.org/drawingml/2006/main">
              <a:ext uri="{FF2B5EF4-FFF2-40B4-BE49-F238E27FC236}">
                <a16:creationId xmlns:a16="http://schemas.microsoft.com/office/drawing/2014/main" id="{A0AC4149-62BB-4788-9720-B98CDA137CF1}"/>
              </a:ext>
            </a:extLst>
          </p:cNvPr>
          <p:cNvSpPr>
            <a:spLocks xmlns:a="http://schemas.openxmlformats.org/drawingml/2006/main" noGrp="1"/>
          </p:cNvSpPr>
          <p:nvPr/>
        </p:nvSpPr>
        <p:spPr>
          <a:xfrm xmlns:a="http://schemas.openxmlformats.org/drawingml/2006/main">
            <a:off x="1929384" y="1892808"/>
            <a:ext cx="347472" cy="347472"/>
          </a:xfrm>
          <a:prstGeom xmlns:a="http://schemas.openxmlformats.org/drawingml/2006/main" prst="ellipse">
            <a:avLst/>
          </a:prstGeom>
          <a:solidFill xmlns:a="http://schemas.openxmlformats.org/drawingml/2006/main">
            <a:schemeClr val="accent2"/>
          </a:solidFill>
          <a:ln xmlns:a="http://schemas.openxmlformats.org/drawingml/2006/main" w="12700">
            <a:solidFill>
              <a:schemeClr val="accent2"/>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7">
            <a:extLst xmlns:a="http://schemas.openxmlformats.org/drawingml/2006/main">
              <a:ext uri="{FF2B5EF4-FFF2-40B4-BE49-F238E27FC236}">
                <a16:creationId xmlns:a16="http://schemas.microsoft.com/office/drawing/2014/main" id="{979F2026-DB61-4D52-BAB9-274DD54A8F82}"/>
              </a:ext>
            </a:extLst>
          </p:cNvPr>
          <p:cNvSpPr>
            <a:spLocks xmlns:a="http://schemas.openxmlformats.org/drawingml/2006/main" noGrp="1"/>
          </p:cNvSpPr>
          <p:nvPr/>
        </p:nvSpPr>
        <p:spPr>
          <a:xfrm xmlns:a="http://schemas.openxmlformats.org/drawingml/2006/main">
            <a:off x="1051560" y="3429000"/>
            <a:ext cx="347472" cy="347472"/>
          </a:xfrm>
          <a:prstGeom xmlns:a="http://schemas.openxmlformats.org/drawingml/2006/main" prst="ellipse">
            <a:avLst/>
          </a:prstGeom>
          <a:solidFill xmlns:a="http://schemas.openxmlformats.org/drawingml/2006/main">
            <a:schemeClr val="accent2"/>
          </a:solidFill>
          <a:ln xmlns:a="http://schemas.openxmlformats.org/drawingml/2006/main" w="12700">
            <a:solidFill>
              <a:schemeClr val="accent2"/>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8">
            <a:extLst xmlns:a="http://schemas.openxmlformats.org/drawingml/2006/main">
              <a:ext uri="{FF2B5EF4-FFF2-40B4-BE49-F238E27FC236}">
                <a16:creationId xmlns:a16="http://schemas.microsoft.com/office/drawing/2014/main" id="{BA188D08-406E-4331-AB95-67F73FEA115C}"/>
              </a:ext>
            </a:extLst>
          </p:cNvPr>
          <p:cNvSpPr>
            <a:spLocks xmlns:a="http://schemas.openxmlformats.org/drawingml/2006/main" noGrp="1"/>
          </p:cNvSpPr>
          <p:nvPr/>
        </p:nvSpPr>
        <p:spPr>
          <a:xfrm xmlns:a="http://schemas.openxmlformats.org/drawingml/2006/main">
            <a:off x="2807208" y="3429000"/>
            <a:ext cx="347472" cy="347472"/>
          </a:xfrm>
          <a:prstGeom xmlns:a="http://schemas.openxmlformats.org/drawingml/2006/main" prst="ellipse">
            <a:avLst/>
          </a:prstGeom>
          <a:solidFill xmlns:a="http://schemas.openxmlformats.org/drawingml/2006/main">
            <a:schemeClr val="accent2"/>
          </a:solidFill>
          <a:ln xmlns:a="http://schemas.openxmlformats.org/drawingml/2006/main" w="12700">
            <a:solidFill>
              <a:schemeClr val="accent2"/>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9">
            <a:extLst xmlns:a="http://schemas.openxmlformats.org/drawingml/2006/main">
              <a:ext uri="{FF2B5EF4-FFF2-40B4-BE49-F238E27FC236}">
                <a16:creationId xmlns:a16="http://schemas.microsoft.com/office/drawing/2014/main" id="{CB1842C0-A2CF-4A74-8C5F-A0CE728839EE}"/>
              </a:ext>
            </a:extLst>
          </p:cNvPr>
          <p:cNvSpPr>
            <a:spLocks xmlns:a="http://schemas.openxmlformats.org/drawingml/2006/main" noGrp="1"/>
          </p:cNvSpPr>
          <p:nvPr/>
        </p:nvSpPr>
        <p:spPr>
          <a:xfrm xmlns:a="http://schemas.openxmlformats.org/drawingml/2006/main">
            <a:off x="457200" y="416052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400"/>
            </a:defPPr>
          </a:lstStyle>
          <a:p xmlns:a="http://schemas.openxmlformats.org/drawingml/2006/main">
            <a:pPr marL="0" indent="0" algn="ctr">
              <a:buNone/>
              <a:defRPr sz="1400"/>
            </a:pPr>
            <a:r>
              <a:rPr sz="1400">
                <a:solidFill>
                  <a:schemeClr val="accent6"/>
                </a:solidFill>
              </a:rPr>
              <a:t>The bench demo uses one ToF</a:t>
            </a:r>
            <a:endParaRPr sz="1200"/>
          </a:p>
        </p:txBody>
      </p:sp>
      <p:sp>
        <p:nvSpPr>
          <p:cNvPr id="13" name="Shape 10">
            <a:extLst xmlns:a="http://schemas.openxmlformats.org/drawingml/2006/main">
              <a:ext uri="{FF2B5EF4-FFF2-40B4-BE49-F238E27FC236}">
                <a16:creationId xmlns:a16="http://schemas.microsoft.com/office/drawing/2014/main" id="{DB992639-6A5D-4852-A3BF-CB8D78DDFB46}"/>
              </a:ext>
            </a:extLst>
          </p:cNvPr>
          <p:cNvSpPr>
            <a:spLocks xmlns:a="http://schemas.openxmlformats.org/drawingml/2006/main" noGrp="1"/>
          </p:cNvSpPr>
          <p:nvPr/>
        </p:nvSpPr>
        <p:spPr>
          <a:xfrm xmlns:a="http://schemas.openxmlformats.org/drawingml/2006/main">
            <a:off x="4014216" y="1344168"/>
            <a:ext cx="384048" cy="384048"/>
          </a:xfrm>
          <a:prstGeom xmlns:a="http://schemas.openxmlformats.org/drawingml/2006/main" prst="ellipse">
            <a:avLst/>
          </a:prstGeom>
          <a:solidFill xmlns:a="http://schemas.openxmlformats.org/drawingml/2006/main">
            <a:schemeClr val="accent2"/>
          </a:solidFill>
          <a:ln xmlns:a="http://schemas.openxmlformats.org/drawingml/2006/main" w="12700">
            <a:solidFill>
              <a:schemeClr val="accent2"/>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6A34BE0B-E2C0-46FB-9351-B7CC787C2DD2}"/>
              </a:ext>
            </a:extLst>
          </p:cNvPr>
          <p:cNvSpPr>
            <a:spLocks xmlns:a="http://schemas.openxmlformats.org/drawingml/2006/main" noGrp="1"/>
          </p:cNvSpPr>
          <p:nvPr/>
        </p:nvSpPr>
        <p:spPr>
          <a:xfrm xmlns:a="http://schemas.openxmlformats.org/drawingml/2006/main">
            <a:off x="4014216" y="134416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1</a:t>
            </a:r>
            <a:endParaRPr sz="1400"/>
          </a:p>
        </p:txBody>
      </p:sp>
      <p:sp>
        <p:nvSpPr>
          <p:cNvPr id="15" name="Text 12">
            <a:extLst xmlns:a="http://schemas.openxmlformats.org/drawingml/2006/main">
              <a:ext uri="{FF2B5EF4-FFF2-40B4-BE49-F238E27FC236}">
                <a16:creationId xmlns:a16="http://schemas.microsoft.com/office/drawing/2014/main" id="{EB4A0607-1D72-456B-8466-4451815A4410}"/>
              </a:ext>
            </a:extLst>
          </p:cNvPr>
          <p:cNvSpPr>
            <a:spLocks xmlns:a="http://schemas.openxmlformats.org/drawingml/2006/main" noGrp="1"/>
          </p:cNvSpPr>
          <p:nvPr/>
        </p:nvSpPr>
        <p:spPr>
          <a:xfrm xmlns:a="http://schemas.openxmlformats.org/drawingml/2006/main">
            <a:off x="4572000" y="1252728"/>
            <a:ext cx="4114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rPr>
              <a:t>Arduino Uno</a:t>
            </a:r>
            <a:endParaRPr sz="1600"/>
          </a:p>
        </p:txBody>
      </p:sp>
      <p:sp>
        <p:nvSpPr>
          <p:cNvPr id="16" name="Text 13">
            <a:extLst xmlns:a="http://schemas.openxmlformats.org/drawingml/2006/main">
              <a:ext uri="{FF2B5EF4-FFF2-40B4-BE49-F238E27FC236}">
                <a16:creationId xmlns:a16="http://schemas.microsoft.com/office/drawing/2014/main" id="{A3C8DA58-DEC3-46DF-A66F-C20DD6393E6B}"/>
              </a:ext>
            </a:extLst>
          </p:cNvPr>
          <p:cNvSpPr>
            <a:spLocks xmlns:a="http://schemas.openxmlformats.org/drawingml/2006/main" noGrp="1"/>
          </p:cNvSpPr>
          <p:nvPr/>
        </p:nvSpPr>
        <p:spPr>
          <a:xfrm xmlns:a="http://schemas.openxmlformats.org/drawingml/2006/main">
            <a:off x="4572000" y="1545336"/>
            <a:ext cx="4114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6"/>
                </a:solidFill>
              </a:rPr>
              <a:t>Sensing and control on one board</a:t>
            </a:r>
            <a:endParaRPr sz="1200"/>
          </a:p>
        </p:txBody>
      </p:sp>
      <p:sp>
        <p:nvSpPr>
          <p:cNvPr id="17" name="Shape 14">
            <a:extLst xmlns:a="http://schemas.openxmlformats.org/drawingml/2006/main">
              <a:ext uri="{FF2B5EF4-FFF2-40B4-BE49-F238E27FC236}">
                <a16:creationId xmlns:a16="http://schemas.microsoft.com/office/drawing/2014/main" id="{F32F315C-E672-4C4E-B025-B302EBC68C68}"/>
              </a:ext>
            </a:extLst>
          </p:cNvPr>
          <p:cNvSpPr>
            <a:spLocks xmlns:a="http://schemas.openxmlformats.org/drawingml/2006/main" noGrp="1"/>
          </p:cNvSpPr>
          <p:nvPr/>
        </p:nvSpPr>
        <p:spPr>
          <a:xfrm xmlns:a="http://schemas.openxmlformats.org/drawingml/2006/main">
            <a:off x="4014216" y="2029968"/>
            <a:ext cx="384048" cy="384048"/>
          </a:xfrm>
          <a:prstGeom xmlns:a="http://schemas.openxmlformats.org/drawingml/2006/main" prst="ellipse">
            <a:avLst/>
          </a:prstGeom>
          <a:solidFill xmlns:a="http://schemas.openxmlformats.org/drawingml/2006/main">
            <a:schemeClr val="accent2"/>
          </a:solidFill>
          <a:ln xmlns:a="http://schemas.openxmlformats.org/drawingml/2006/main" w="12700">
            <a:solidFill>
              <a:schemeClr val="accent2"/>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6676659E-1962-4DF8-9963-7F1758247F93}"/>
              </a:ext>
            </a:extLst>
          </p:cNvPr>
          <p:cNvSpPr>
            <a:spLocks xmlns:a="http://schemas.openxmlformats.org/drawingml/2006/main" noGrp="1"/>
          </p:cNvSpPr>
          <p:nvPr/>
        </p:nvSpPr>
        <p:spPr>
          <a:xfrm xmlns:a="http://schemas.openxmlformats.org/drawingml/2006/main">
            <a:off x="4014216" y="202996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2</a:t>
            </a:r>
            <a:endParaRPr sz="1400"/>
          </a:p>
        </p:txBody>
      </p:sp>
      <p:sp>
        <p:nvSpPr>
          <p:cNvPr id="19" name="Text 16">
            <a:extLst xmlns:a="http://schemas.openxmlformats.org/drawingml/2006/main">
              <a:ext uri="{FF2B5EF4-FFF2-40B4-BE49-F238E27FC236}">
                <a16:creationId xmlns:a16="http://schemas.microsoft.com/office/drawing/2014/main" id="{DBDD41EF-31DD-4B2E-9DCB-8D182932F7CD}"/>
              </a:ext>
            </a:extLst>
          </p:cNvPr>
          <p:cNvSpPr>
            <a:spLocks xmlns:a="http://schemas.openxmlformats.org/drawingml/2006/main" noGrp="1"/>
          </p:cNvSpPr>
          <p:nvPr/>
        </p:nvSpPr>
        <p:spPr>
          <a:xfrm xmlns:a="http://schemas.openxmlformats.org/drawingml/2006/main">
            <a:off x="4572000" y="1938528"/>
            <a:ext cx="4114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rPr>
              <a:t>MPU6500 IMU</a:t>
            </a:r>
            <a:endParaRPr sz="1600"/>
          </a:p>
        </p:txBody>
      </p:sp>
      <p:sp>
        <p:nvSpPr>
          <p:cNvPr id="20" name="Text 17">
            <a:extLst xmlns:a="http://schemas.openxmlformats.org/drawingml/2006/main">
              <a:ext uri="{FF2B5EF4-FFF2-40B4-BE49-F238E27FC236}">
                <a16:creationId xmlns:a16="http://schemas.microsoft.com/office/drawing/2014/main" id="{A41FFEE4-8506-4F3E-8AFC-05875C96C930}"/>
              </a:ext>
            </a:extLst>
          </p:cNvPr>
          <p:cNvSpPr>
            <a:spLocks xmlns:a="http://schemas.openxmlformats.org/drawingml/2006/main" noGrp="1"/>
          </p:cNvSpPr>
          <p:nvPr/>
        </p:nvSpPr>
        <p:spPr>
          <a:xfrm xmlns:a="http://schemas.openxmlformats.org/drawingml/2006/main">
            <a:off x="4572000" y="2231136"/>
            <a:ext cx="4114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6"/>
                </a:solidFill>
              </a:rPr>
              <a:t>Acceleration and gyro, pitch and roll</a:t>
            </a:r>
            <a:endParaRPr sz="1200"/>
          </a:p>
        </p:txBody>
      </p:sp>
      <p:sp>
        <p:nvSpPr>
          <p:cNvPr id="21" name="Shape 18">
            <a:extLst xmlns:a="http://schemas.openxmlformats.org/drawingml/2006/main">
              <a:ext uri="{FF2B5EF4-FFF2-40B4-BE49-F238E27FC236}">
                <a16:creationId xmlns:a16="http://schemas.microsoft.com/office/drawing/2014/main" id="{7CDF1AD6-44DE-4B1E-976B-947945C207BC}"/>
              </a:ext>
            </a:extLst>
          </p:cNvPr>
          <p:cNvSpPr>
            <a:spLocks xmlns:a="http://schemas.openxmlformats.org/drawingml/2006/main" noGrp="1"/>
          </p:cNvSpPr>
          <p:nvPr/>
        </p:nvSpPr>
        <p:spPr>
          <a:xfrm xmlns:a="http://schemas.openxmlformats.org/drawingml/2006/main">
            <a:off x="4014216" y="2715768"/>
            <a:ext cx="384048" cy="384048"/>
          </a:xfrm>
          <a:prstGeom xmlns:a="http://schemas.openxmlformats.org/drawingml/2006/main" prst="ellipse">
            <a:avLst/>
          </a:prstGeom>
          <a:solidFill xmlns:a="http://schemas.openxmlformats.org/drawingml/2006/main">
            <a:schemeClr val="accent2"/>
          </a:solidFill>
          <a:ln xmlns:a="http://schemas.openxmlformats.org/drawingml/2006/main" w="12700">
            <a:solidFill>
              <a:schemeClr val="accent2"/>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9">
            <a:extLst xmlns:a="http://schemas.openxmlformats.org/drawingml/2006/main">
              <a:ext uri="{FF2B5EF4-FFF2-40B4-BE49-F238E27FC236}">
                <a16:creationId xmlns:a16="http://schemas.microsoft.com/office/drawing/2014/main" id="{5C6BA383-7053-473E-9D56-E09D03A06D77}"/>
              </a:ext>
            </a:extLst>
          </p:cNvPr>
          <p:cNvSpPr>
            <a:spLocks xmlns:a="http://schemas.openxmlformats.org/drawingml/2006/main" noGrp="1"/>
          </p:cNvSpPr>
          <p:nvPr/>
        </p:nvSpPr>
        <p:spPr>
          <a:xfrm xmlns:a="http://schemas.openxmlformats.org/drawingml/2006/main">
            <a:off x="4014216" y="271576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3</a:t>
            </a:r>
            <a:endParaRPr sz="1400"/>
          </a:p>
        </p:txBody>
      </p:sp>
      <p:sp>
        <p:nvSpPr>
          <p:cNvPr id="23" name="Text 20">
            <a:extLst xmlns:a="http://schemas.openxmlformats.org/drawingml/2006/main">
              <a:ext uri="{FF2B5EF4-FFF2-40B4-BE49-F238E27FC236}">
                <a16:creationId xmlns:a16="http://schemas.microsoft.com/office/drawing/2014/main" id="{4219CD00-CC19-42AE-B22C-2B4810A90EBE}"/>
              </a:ext>
            </a:extLst>
          </p:cNvPr>
          <p:cNvSpPr>
            <a:spLocks xmlns:a="http://schemas.openxmlformats.org/drawingml/2006/main" noGrp="1"/>
          </p:cNvSpPr>
          <p:nvPr/>
        </p:nvSpPr>
        <p:spPr>
          <a:xfrm xmlns:a="http://schemas.openxmlformats.org/drawingml/2006/main">
            <a:off x="4572000" y="2624328"/>
            <a:ext cx="4114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rPr>
              <a:t>One VL53L0X</a:t>
            </a:r>
            <a:endParaRPr sz="1600"/>
          </a:p>
        </p:txBody>
      </p:sp>
      <p:sp>
        <p:nvSpPr>
          <p:cNvPr id="24" name="Text 21">
            <a:extLst xmlns:a="http://schemas.openxmlformats.org/drawingml/2006/main">
              <a:ext uri="{FF2B5EF4-FFF2-40B4-BE49-F238E27FC236}">
                <a16:creationId xmlns:a16="http://schemas.microsoft.com/office/drawing/2014/main" id="{7F41021E-00B8-457F-860A-A767359BFA3D}"/>
              </a:ext>
            </a:extLst>
          </p:cNvPr>
          <p:cNvSpPr>
            <a:spLocks xmlns:a="http://schemas.openxmlformats.org/drawingml/2006/main" noGrp="1"/>
          </p:cNvSpPr>
          <p:nvPr/>
        </p:nvSpPr>
        <p:spPr>
          <a:xfrm xmlns:a="http://schemas.openxmlformats.org/drawingml/2006/main">
            <a:off x="4572000" y="2916936"/>
            <a:ext cx="4114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6"/>
                </a:solidFill>
              </a:rPr>
              <a:t>Target range, validity and freshness</a:t>
            </a:r>
            <a:endParaRPr sz="1200"/>
          </a:p>
        </p:txBody>
      </p:sp>
      <p:sp>
        <p:nvSpPr>
          <p:cNvPr id="25" name="Shape 22">
            <a:extLst xmlns:a="http://schemas.openxmlformats.org/drawingml/2006/main">
              <a:ext uri="{FF2B5EF4-FFF2-40B4-BE49-F238E27FC236}">
                <a16:creationId xmlns:a16="http://schemas.microsoft.com/office/drawing/2014/main" id="{1ECBC354-6855-48E1-A98D-20CD6787C877}"/>
              </a:ext>
            </a:extLst>
          </p:cNvPr>
          <p:cNvSpPr>
            <a:spLocks xmlns:a="http://schemas.openxmlformats.org/drawingml/2006/main" noGrp="1"/>
          </p:cNvSpPr>
          <p:nvPr/>
        </p:nvSpPr>
        <p:spPr>
          <a:xfrm xmlns:a="http://schemas.openxmlformats.org/drawingml/2006/main">
            <a:off x="4014216" y="3401568"/>
            <a:ext cx="384048" cy="384048"/>
          </a:xfrm>
          <a:prstGeom xmlns:a="http://schemas.openxmlformats.org/drawingml/2006/main" prst="ellipse">
            <a:avLst/>
          </a:prstGeom>
          <a:solidFill xmlns:a="http://schemas.openxmlformats.org/drawingml/2006/main">
            <a:schemeClr val="accent2"/>
          </a:solidFill>
          <a:ln xmlns:a="http://schemas.openxmlformats.org/drawingml/2006/main" w="12700">
            <a:solidFill>
              <a:schemeClr val="accent2"/>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3">
            <a:extLst xmlns:a="http://schemas.openxmlformats.org/drawingml/2006/main">
              <a:ext uri="{FF2B5EF4-FFF2-40B4-BE49-F238E27FC236}">
                <a16:creationId xmlns:a16="http://schemas.microsoft.com/office/drawing/2014/main" id="{3AD4A6BD-14C2-4476-891B-C76D58B4EDCD}"/>
              </a:ext>
            </a:extLst>
          </p:cNvPr>
          <p:cNvSpPr>
            <a:spLocks xmlns:a="http://schemas.openxmlformats.org/drawingml/2006/main" noGrp="1"/>
          </p:cNvSpPr>
          <p:nvPr/>
        </p:nvSpPr>
        <p:spPr>
          <a:xfrm xmlns:a="http://schemas.openxmlformats.org/drawingml/2006/main">
            <a:off x="4014216" y="340156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4</a:t>
            </a:r>
            <a:endParaRPr sz="1400"/>
          </a:p>
        </p:txBody>
      </p:sp>
      <p:sp>
        <p:nvSpPr>
          <p:cNvPr id="27" name="Text 24">
            <a:extLst xmlns:a="http://schemas.openxmlformats.org/drawingml/2006/main">
              <a:ext uri="{FF2B5EF4-FFF2-40B4-BE49-F238E27FC236}">
                <a16:creationId xmlns:a16="http://schemas.microsoft.com/office/drawing/2014/main" id="{8A96A275-3B40-4AFF-B44F-1AFE5D02FDCC}"/>
              </a:ext>
            </a:extLst>
          </p:cNvPr>
          <p:cNvSpPr>
            <a:spLocks xmlns:a="http://schemas.openxmlformats.org/drawingml/2006/main" noGrp="1"/>
          </p:cNvSpPr>
          <p:nvPr/>
        </p:nvSpPr>
        <p:spPr>
          <a:xfrm xmlns:a="http://schemas.openxmlformats.org/drawingml/2006/main">
            <a:off x="4572000" y="3310128"/>
            <a:ext cx="4114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rPr>
              <a:t>Virtual stabilizer</a:t>
            </a:r>
            <a:endParaRPr sz="1600"/>
          </a:p>
        </p:txBody>
      </p:sp>
      <p:sp>
        <p:nvSpPr>
          <p:cNvPr id="28" name="Text 25">
            <a:extLst xmlns:a="http://schemas.openxmlformats.org/drawingml/2006/main">
              <a:ext uri="{FF2B5EF4-FFF2-40B4-BE49-F238E27FC236}">
                <a16:creationId xmlns:a16="http://schemas.microsoft.com/office/drawing/2014/main" id="{3836F1A8-92A3-4B31-ABBA-09B3946B9F27}"/>
              </a:ext>
            </a:extLst>
          </p:cNvPr>
          <p:cNvSpPr>
            <a:spLocks xmlns:a="http://schemas.openxmlformats.org/drawingml/2006/main" noGrp="1"/>
          </p:cNvSpPr>
          <p:nvPr/>
        </p:nvSpPr>
        <p:spPr>
          <a:xfrm xmlns:a="http://schemas.openxmlformats.org/drawingml/2006/main">
            <a:off x="4572000" y="3602736"/>
            <a:ext cx="4114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6"/>
                </a:solidFill>
              </a:rPr>
              <a:t>Pitch response, 65 to 115 degrees</a:t>
            </a:r>
            <a:endParaRPr sz="1200"/>
          </a:p>
        </p:txBody>
      </p:sp>
      <p:sp>
        <p:nvSpPr>
          <p:cNvPr id="29" name="Shape 26">
            <a:extLst xmlns:a="http://schemas.openxmlformats.org/drawingml/2006/main">
              <a:ext uri="{FF2B5EF4-FFF2-40B4-BE49-F238E27FC236}">
                <a16:creationId xmlns:a16="http://schemas.microsoft.com/office/drawing/2014/main" id="{81C11672-0B3C-4770-B03C-0058B5338F74}"/>
              </a:ext>
            </a:extLst>
          </p:cNvPr>
          <p:cNvSpPr>
            <a:spLocks xmlns:a="http://schemas.openxmlformats.org/drawingml/2006/main" noGrp="1"/>
          </p:cNvSpPr>
          <p:nvPr/>
        </p:nvSpPr>
        <p:spPr>
          <a:xfrm xmlns:a="http://schemas.openxmlformats.org/drawingml/2006/main">
            <a:off x="4014216" y="4087368"/>
            <a:ext cx="384048" cy="384048"/>
          </a:xfrm>
          <a:prstGeom xmlns:a="http://schemas.openxmlformats.org/drawingml/2006/main" prst="ellipse">
            <a:avLst/>
          </a:prstGeom>
          <a:solidFill xmlns:a="http://schemas.openxmlformats.org/drawingml/2006/main">
            <a:schemeClr val="accent2"/>
          </a:solidFill>
          <a:ln xmlns:a="http://schemas.openxmlformats.org/drawingml/2006/main" w="12700">
            <a:solidFill>
              <a:schemeClr val="accent2"/>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7">
            <a:extLst xmlns:a="http://schemas.openxmlformats.org/drawingml/2006/main">
              <a:ext uri="{FF2B5EF4-FFF2-40B4-BE49-F238E27FC236}">
                <a16:creationId xmlns:a16="http://schemas.microsoft.com/office/drawing/2014/main" id="{D714F3DB-DFCD-4EA3-A0D3-0A2D61A8FFB9}"/>
              </a:ext>
            </a:extLst>
          </p:cNvPr>
          <p:cNvSpPr>
            <a:spLocks xmlns:a="http://schemas.openxmlformats.org/drawingml/2006/main" noGrp="1"/>
          </p:cNvSpPr>
          <p:nvPr/>
        </p:nvSpPr>
        <p:spPr>
          <a:xfrm xmlns:a="http://schemas.openxmlformats.org/drawingml/2006/main">
            <a:off x="4014216" y="408736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5</a:t>
            </a:r>
            <a:endParaRPr sz="1400"/>
          </a:p>
        </p:txBody>
      </p:sp>
      <p:sp>
        <p:nvSpPr>
          <p:cNvPr id="31" name="Text 28">
            <a:extLst xmlns:a="http://schemas.openxmlformats.org/drawingml/2006/main">
              <a:ext uri="{FF2B5EF4-FFF2-40B4-BE49-F238E27FC236}">
                <a16:creationId xmlns:a16="http://schemas.microsoft.com/office/drawing/2014/main" id="{E034D028-8FCB-425D-85E2-D3EDCD237495}"/>
              </a:ext>
            </a:extLst>
          </p:cNvPr>
          <p:cNvSpPr>
            <a:spLocks xmlns:a="http://schemas.openxmlformats.org/drawingml/2006/main" noGrp="1"/>
          </p:cNvSpPr>
          <p:nvPr/>
        </p:nvSpPr>
        <p:spPr>
          <a:xfrm xmlns:a="http://schemas.openxmlformats.org/drawingml/2006/main">
            <a:off x="4572000" y="3995928"/>
            <a:ext cx="4114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rPr>
              <a:t>Virtual landing gear</a:t>
            </a:r>
            <a:endParaRPr sz="1600"/>
          </a:p>
        </p:txBody>
      </p:sp>
      <p:sp>
        <p:nvSpPr>
          <p:cNvPr id="32" name="Text 29">
            <a:extLst xmlns:a="http://schemas.openxmlformats.org/drawingml/2006/main">
              <a:ext uri="{FF2B5EF4-FFF2-40B4-BE49-F238E27FC236}">
                <a16:creationId xmlns:a16="http://schemas.microsoft.com/office/drawing/2014/main" id="{532DC16A-40F6-44E6-A3D8-31578B61A0D8}"/>
              </a:ext>
            </a:extLst>
          </p:cNvPr>
          <p:cNvSpPr>
            <a:spLocks xmlns:a="http://schemas.openxmlformats.org/drawingml/2006/main" noGrp="1"/>
          </p:cNvSpPr>
          <p:nvPr/>
        </p:nvSpPr>
        <p:spPr>
          <a:xfrm xmlns:a="http://schemas.openxmlformats.org/drawingml/2006/main">
            <a:off x="4572000" y="4288536"/>
            <a:ext cx="4114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6"/>
                </a:solidFill>
              </a:rPr>
              <a:t>0 / 90 degrees, both SG90s disconnected</a:t>
            </a:r>
            <a:endParaRPr sz="1200"/>
          </a:p>
        </p:txBody>
      </p:sp>
      <p:sp>
        <p:nvSpPr>
          <p:cNvPr id="3" name="Slide Number Placeholder 0">
            <a:extLst xmlns:a="http://schemas.openxmlformats.org/drawingml/2006/main">
              <a:ext uri="{FF2B5EF4-FFF2-40B4-BE49-F238E27FC236}">
                <a16:creationId xmlns:a16="http://schemas.microsoft.com/office/drawing/2014/main" id="{D5AF61D3-C2B4-4D66-9858-911D2E66A306}"/>
              </a:ext>
            </a:extLst>
          </p:cNvPr>
          <p:cNvSpPr>
            <a:spLocks xmlns:a="http://schemas.openxmlformats.org/drawingml/2006/main" noGrp="1"/>
          </p:cNvSpPr>
          <p:nvPr>
            <p:ph type="sldNum" idx="4294967295"/>
          </p:nvPr>
        </p:nvSpPr>
        <p:spPr>
          <a:xfrm xmlns:a="http://schemas.openxmlformats.org/drawingml/2006/main">
            <a:off x="8321040" y="480060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6"/>
                </a:solidFill>
              </a:defRPr>
            </a:lvl1pPr>
          </a:lstStyle>
          <a:p xmlns:a="http://schemas.openxmlformats.org/drawingml/2006/main">
            <a:pPr algn="l">
              <a:buNone/>
            </a:pPr>
            <a:fld id="{EE5B3003-2C54-13C6-9832-7637201064DE}" type="slidenum">
              <a:rPr b="0"/>
              <a:t>5</a:t>
            </a:fld>
            <a:endParaRPr/>
          </a:p>
        </p:txBody>
      </p:sp>
    </p:spTree>
    <p:extLst>
      <p:ext uri="{BB962C8B-B14F-4D97-AF65-F5344CB8AC3E}">
        <p14:creationId xmlns:p14="http://schemas.microsoft.com/office/powerpoint/2010/main" val="161048975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31D590-BBF8-4367-86ED-C826BEFFFBE9}"/>
              </a:ext>
            </a:extLst>
          </p:cNvPr>
          <p:cNvSpPr>
            <a:spLocks xmlns:a="http://schemas.openxmlformats.org/drawingml/2006/main" noGrp="1"/>
          </p:cNvSpPr>
          <p:nvPr/>
        </p:nvSpPr>
        <p:spPr>
          <a:xfrm xmlns:a="http://schemas.openxmlformats.org/drawingml/2006/main">
            <a:off x="457200" y="27432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200" b="1">
                <a:solidFill>
                  <a:schemeClr val="tx1"/>
                </a:solidFill>
              </a:rPr>
              <a:t>Attitude estimation on the Uno</a:t>
            </a:r>
            <a:endParaRPr sz="3200"/>
          </a:p>
        </p:txBody>
      </p:sp>
      <p:sp>
        <p:nvSpPr>
          <p:cNvPr id="4" name="cf">
            <a:extLst xmlns:a="http://schemas.openxmlformats.org/drawingml/2006/main">
              <a:ext uri="{FF2B5EF4-FFF2-40B4-BE49-F238E27FC236}">
                <a16:creationId xmlns:a16="http://schemas.microsoft.com/office/drawing/2014/main" id="{EF6952FF-AE8D-4EE9-8EA7-EDAFDB6EC1E7}"/>
              </a:ext>
            </a:extLst>
          </p:cNvPr>
          <p:cNvSpPr>
            <a:spLocks xmlns:a="http://schemas.openxmlformats.org/drawingml/2006/main" noGrp="1"/>
          </p:cNvSpPr>
          <p:nvPr/>
        </p:nvSpPr>
        <p:spPr>
          <a:xfrm xmlns:a="http://schemas.openxmlformats.org/drawingml/2006/main">
            <a:off x="457200" y="1188720"/>
            <a:ext cx="4023360" cy="2331720"/>
          </a:xfrm>
          <a:prstGeom xmlns:a="http://schemas.openxmlformats.org/drawingml/2006/main" prst="roundRect">
            <a:avLst>
              <a:gd name="adj" fmla="val 4706"/>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pid">
            <a:extLst xmlns:a="http://schemas.openxmlformats.org/drawingml/2006/main">
              <a:ext uri="{FF2B5EF4-FFF2-40B4-BE49-F238E27FC236}">
                <a16:creationId xmlns:a16="http://schemas.microsoft.com/office/drawing/2014/main" id="{0AD4A34F-C49C-4D18-9AEF-2AF15DBD20C0}"/>
              </a:ext>
            </a:extLst>
          </p:cNvPr>
          <p:cNvSpPr>
            <a:spLocks xmlns:a="http://schemas.openxmlformats.org/drawingml/2006/main" noGrp="1"/>
          </p:cNvSpPr>
          <p:nvPr/>
        </p:nvSpPr>
        <p:spPr>
          <a:xfrm xmlns:a="http://schemas.openxmlformats.org/drawingml/2006/main">
            <a:off x="4663440" y="1188720"/>
            <a:ext cx="4023360" cy="2331720"/>
          </a:xfrm>
          <a:prstGeom xmlns:a="http://schemas.openxmlformats.org/drawingml/2006/main" prst="roundRect">
            <a:avLst>
              <a:gd name="adj" fmla="val 4706"/>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997C5AD2-39F6-4F5E-8835-D993481B169D}"/>
              </a:ext>
            </a:extLst>
          </p:cNvPr>
          <p:cNvSpPr>
            <a:spLocks xmlns:a="http://schemas.openxmlformats.org/drawingml/2006/main" noGrp="1"/>
          </p:cNvSpPr>
          <p:nvPr/>
        </p:nvSpPr>
        <p:spPr>
          <a:xfrm xmlns:a="http://schemas.openxmlformats.org/drawingml/2006/main">
            <a:off x="640080" y="1298448"/>
            <a:ext cx="3657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rPr>
              <a:t>Complementary filter</a:t>
            </a:r>
            <a:endParaRPr sz="1800"/>
          </a:p>
        </p:txBody>
      </p:sp>
      <p:sp>
        <p:nvSpPr>
          <p:cNvPr id="7" name="Text 4">
            <a:extLst xmlns:a="http://schemas.openxmlformats.org/drawingml/2006/main">
              <a:ext uri="{FF2B5EF4-FFF2-40B4-BE49-F238E27FC236}">
                <a16:creationId xmlns:a16="http://schemas.microsoft.com/office/drawing/2014/main" id="{F79E0F25-1EDE-40C1-9113-7B5D487BCA65}"/>
              </a:ext>
            </a:extLst>
          </p:cNvPr>
          <p:cNvSpPr>
            <a:spLocks xmlns:a="http://schemas.openxmlformats.org/drawingml/2006/main" noGrp="1"/>
          </p:cNvSpPr>
          <p:nvPr/>
        </p:nvSpPr>
        <p:spPr>
          <a:xfrm xmlns:a="http://schemas.openxmlformats.org/drawingml/2006/main">
            <a:off x="640080" y="1719072"/>
            <a:ext cx="3657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rPr>
              <a:t>θ = α(θ + ω·Δt) + (1 − α)·θ_acc</a:t>
            </a:r>
            <a:endParaRPr sz="1600"/>
          </a:p>
        </p:txBody>
      </p:sp>
      <p:sp>
        <p:nvSpPr>
          <p:cNvPr id="8" name="Text 5">
            <a:extLst xmlns:a="http://schemas.openxmlformats.org/drawingml/2006/main">
              <a:ext uri="{FF2B5EF4-FFF2-40B4-BE49-F238E27FC236}">
                <a16:creationId xmlns:a16="http://schemas.microsoft.com/office/drawing/2014/main" id="{BE8DE50D-752C-4A8B-93DD-97CE954209EF}"/>
              </a:ext>
            </a:extLst>
          </p:cNvPr>
          <p:cNvSpPr>
            <a:spLocks xmlns:a="http://schemas.openxmlformats.org/drawingml/2006/main" noGrp="1"/>
          </p:cNvSpPr>
          <p:nvPr/>
        </p:nvSpPr>
        <p:spPr>
          <a:xfrm xmlns:a="http://schemas.openxmlformats.org/drawingml/2006/main">
            <a:off x="640080" y="2194560"/>
            <a:ext cx="36576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400"/>
            </a:defPPr>
          </a:lstStyle>
          <a:p xmlns:a="http://schemas.openxmlformats.org/drawingml/2006/main">
            <a:pPr marL="342900" indent="-342900">
              <a:spcAft>
                <a:spcPts val="400"/>
              </a:spcAft>
              <a:buSzPct val="100000"/>
              <a:buChar char="•"/>
              <a:defRPr sz="1400"/>
            </a:pPr>
            <a:r>
              <a:rPr sz="1400">
                <a:solidFill>
                  <a:schemeClr val="tx1"/>
                </a:solidFill>
              </a:rPr>
              <a:t>100 Hz with measured elapsed time</a:t>
            </a:r>
            <a:endParaRPr sz="1400"/>
          </a:p>
          <a:p xmlns:a="http://schemas.openxmlformats.org/drawingml/2006/main">
            <a:pPr marL="342900" indent="-342900">
              <a:spcAft>
                <a:spcPts val="400"/>
              </a:spcAft>
              <a:buSzPct val="100000"/>
              <a:buChar char="•"/>
              <a:defRPr sz="1400"/>
            </a:pPr>
            <a:r>
              <a:rPr sz="1400">
                <a:solidFill>
                  <a:schemeClr val="tx1"/>
                </a:solidFill>
              </a:rPr>
              <a:t>Time constant 0.50 s, α = τ / (τ + Δt)</a:t>
            </a:r>
            <a:endParaRPr sz="1400"/>
          </a:p>
          <a:p xmlns:a="http://schemas.openxmlformats.org/drawingml/2006/main">
            <a:pPr marL="342900" indent="-342900">
              <a:spcAft>
                <a:spcPts val="400"/>
              </a:spcAft>
              <a:buSzPct val="100000"/>
              <a:buChar char="•"/>
              <a:defRPr sz="1400"/>
            </a:pPr>
            <a:r>
              <a:rPr sz="1400">
                <a:solidFill>
                  <a:schemeClr val="tx1"/>
                </a:solidFill>
              </a:rPr>
              <a:t>Acceleration in g, gyro in deg/s</a:t>
            </a:r>
            <a:endParaRPr sz="1400"/>
          </a:p>
        </p:txBody>
      </p:sp>
      <p:sp>
        <p:nvSpPr>
          <p:cNvPr id="9" name="Text 6">
            <a:extLst xmlns:a="http://schemas.openxmlformats.org/drawingml/2006/main">
              <a:ext uri="{FF2B5EF4-FFF2-40B4-BE49-F238E27FC236}">
                <a16:creationId xmlns:a16="http://schemas.microsoft.com/office/drawing/2014/main" id="{49E807F5-BBB9-4450-B706-FB7C213315E6}"/>
              </a:ext>
            </a:extLst>
          </p:cNvPr>
          <p:cNvSpPr>
            <a:spLocks xmlns:a="http://schemas.openxmlformats.org/drawingml/2006/main" noGrp="1"/>
          </p:cNvSpPr>
          <p:nvPr/>
        </p:nvSpPr>
        <p:spPr>
          <a:xfrm xmlns:a="http://schemas.openxmlformats.org/drawingml/2006/main">
            <a:off x="4846320" y="1298448"/>
            <a:ext cx="3657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rPr>
              <a:t>Virtual pitch correction</a:t>
            </a:r>
            <a:endParaRPr sz="1800"/>
          </a:p>
        </p:txBody>
      </p:sp>
      <p:sp>
        <p:nvSpPr>
          <p:cNvPr id="10" name="Text 7">
            <a:extLst xmlns:a="http://schemas.openxmlformats.org/drawingml/2006/main">
              <a:ext uri="{FF2B5EF4-FFF2-40B4-BE49-F238E27FC236}">
                <a16:creationId xmlns:a16="http://schemas.microsoft.com/office/drawing/2014/main" id="{2B2FD989-DF6E-417E-A8F9-E083E2C2FDD1}"/>
              </a:ext>
            </a:extLst>
          </p:cNvPr>
          <p:cNvSpPr>
            <a:spLocks xmlns:a="http://schemas.openxmlformats.org/drawingml/2006/main" noGrp="1"/>
          </p:cNvSpPr>
          <p:nvPr/>
        </p:nvSpPr>
        <p:spPr>
          <a:xfrm xmlns:a="http://schemas.openxmlformats.org/drawingml/2006/main">
            <a:off x="4846320" y="1719072"/>
            <a:ext cx="3657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00"/>
            </a:defPPr>
          </a:lstStyle>
          <a:p xmlns:a="http://schemas.openxmlformats.org/drawingml/2006/main">
            <a:pPr marL="0" indent="0">
              <a:buNone/>
              <a:defRPr sz="1600"/>
            </a:pPr>
            <a:r>
              <a:rPr sz="1600" b="1">
                <a:solidFill>
                  <a:schemeClr val="tx1"/>
                </a:solidFill>
              </a:rPr>
              <a:t>command = 90° − pitch</a:t>
            </a:r>
            <a:endParaRPr sz="1600"/>
          </a:p>
        </p:txBody>
      </p:sp>
      <p:sp>
        <p:nvSpPr>
          <p:cNvPr id="11" name="Text 8">
            <a:extLst xmlns:a="http://schemas.openxmlformats.org/drawingml/2006/main">
              <a:ext uri="{FF2B5EF4-FFF2-40B4-BE49-F238E27FC236}">
                <a16:creationId xmlns:a16="http://schemas.microsoft.com/office/drawing/2014/main" id="{31E0F103-2576-45E3-9CD5-C2BB2E051B97}"/>
              </a:ext>
            </a:extLst>
          </p:cNvPr>
          <p:cNvSpPr>
            <a:spLocks xmlns:a="http://schemas.openxmlformats.org/drawingml/2006/main" noGrp="1"/>
          </p:cNvSpPr>
          <p:nvPr/>
        </p:nvSpPr>
        <p:spPr>
          <a:xfrm xmlns:a="http://schemas.openxmlformats.org/drawingml/2006/main">
            <a:off x="4846320" y="2194560"/>
            <a:ext cx="36576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400"/>
              </a:spcAft>
              <a:buSzPct val="100000"/>
              <a:buChar char="•"/>
            </a:pPr>
            <a:r>
              <a:rPr sz="1400">
                <a:solidFill>
                  <a:schemeClr val="tx1"/>
                </a:solidFill>
              </a:rPr>
              <a:t>Deadband: ±1 degree</a:t>
            </a:r>
            <a:endParaRPr sz="1400"/>
          </a:p>
          <a:p xmlns:a="http://schemas.openxmlformats.org/drawingml/2006/main">
            <a:pPr marL="342900" indent="-342900">
              <a:spcAft>
                <a:spcPts val="400"/>
              </a:spcAft>
              <a:buSzPct val="100000"/>
              <a:buChar char="•"/>
            </a:pPr>
            <a:r>
              <a:rPr sz="1400">
                <a:solidFill>
                  <a:schemeClr val="tx1"/>
                </a:solidFill>
              </a:rPr>
              <a:t>Command limits: 65 to 115 degrees</a:t>
            </a:r>
            <a:endParaRPr sz="1400"/>
          </a:p>
          <a:p xmlns:a="http://schemas.openxmlformats.org/drawingml/2006/main">
            <a:pPr marL="342900" indent="-342900">
              <a:spcAft>
                <a:spcPts val="400"/>
              </a:spcAft>
              <a:buSzPct val="100000"/>
              <a:buChar char="•"/>
            </a:pPr>
            <a:r>
              <a:rPr sz="1400">
                <a:solidFill>
                  <a:schemeClr val="tx1"/>
                </a:solidFill>
              </a:rPr>
              <a:t>Demonstrates response to hand tilt</a:t>
            </a:r>
            <a:endParaRPr sz="1400"/>
          </a:p>
        </p:txBody>
      </p:sp>
      <p:sp>
        <p:nvSpPr>
          <p:cNvPr id="12" name="Shape 9">
            <a:extLst xmlns:a="http://schemas.openxmlformats.org/drawingml/2006/main">
              <a:ext uri="{FF2B5EF4-FFF2-40B4-BE49-F238E27FC236}">
                <a16:creationId xmlns:a16="http://schemas.microsoft.com/office/drawing/2014/main" id="{36EAD549-781B-4420-A72D-2F35DAF57C89}"/>
              </a:ext>
            </a:extLst>
          </p:cNvPr>
          <p:cNvSpPr>
            <a:spLocks xmlns:a="http://schemas.openxmlformats.org/drawingml/2006/main" noGrp="1"/>
          </p:cNvSpPr>
          <p:nvPr/>
        </p:nvSpPr>
        <p:spPr>
          <a:xfrm xmlns:a="http://schemas.openxmlformats.org/drawingml/2006/main">
            <a:off x="457200" y="3840480"/>
            <a:ext cx="1645920" cy="640080"/>
          </a:xfrm>
          <a:prstGeom xmlns:a="http://schemas.openxmlformats.org/drawingml/2006/main" prst="roundRect">
            <a:avLst>
              <a:gd name="adj" fmla="val 14286"/>
            </a:avLst>
          </a:prstGeom>
          <a:solidFill xmlns:a="http://schemas.openxmlformats.org/drawingml/2006/main">
            <a:schemeClr val="tx2"/>
          </a:solidFill>
          <a:ln xmlns:a="http://schemas.openxmlformats.org/drawingml/2006/main" w="12700">
            <a:solidFill>
              <a:schemeClr val="tx2"/>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A7D69F26-02B8-4E2B-8ADE-23EBCB5982EE}"/>
              </a:ext>
            </a:extLst>
          </p:cNvPr>
          <p:cNvSpPr>
            <a:spLocks xmlns:a="http://schemas.openxmlformats.org/drawingml/2006/main" noGrp="1"/>
          </p:cNvSpPr>
          <p:nvPr/>
        </p:nvSpPr>
        <p:spPr>
          <a:xfrm xmlns:a="http://schemas.openxmlformats.org/drawingml/2006/main">
            <a:off x="457200" y="3840480"/>
            <a:ext cx="16459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IMU</a:t>
            </a:r>
            <a:endParaRPr sz="1600"/>
          </a:p>
        </p:txBody>
      </p:sp>
      <p:sp>
        <p:nvSpPr>
          <p:cNvPr id="14" name="Shape 11">
            <a:extLst xmlns:a="http://schemas.openxmlformats.org/drawingml/2006/main">
              <a:ext uri="{FF2B5EF4-FFF2-40B4-BE49-F238E27FC236}">
                <a16:creationId xmlns:a16="http://schemas.microsoft.com/office/drawing/2014/main" id="{5EAAD044-ACDA-4911-87CE-F544066D0C64}"/>
              </a:ext>
            </a:extLst>
          </p:cNvPr>
          <p:cNvSpPr>
            <a:spLocks xmlns:a="http://schemas.openxmlformats.org/drawingml/2006/main" noGrp="1"/>
          </p:cNvSpPr>
          <p:nvPr/>
        </p:nvSpPr>
        <p:spPr>
          <a:xfrm xmlns:a="http://schemas.openxmlformats.org/drawingml/2006/main">
            <a:off x="2121408" y="4160520"/>
            <a:ext cx="512064" cy="0"/>
          </a:xfrm>
          <a:prstGeom xmlns:a="http://schemas.openxmlformats.org/drawingml/2006/main" prst="line">
            <a:avLst/>
          </a:prstGeom>
          <a:noFill xmlns:a="http://schemas.openxmlformats.org/drawingml/2006/main"/>
          <a:ln xmlns:a="http://schemas.openxmlformats.org/drawingml/2006/main" w="25400">
            <a:solidFill>
              <a:schemeClr val="accent6"/>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5" name="Shape 12">
            <a:extLst xmlns:a="http://schemas.openxmlformats.org/drawingml/2006/main">
              <a:ext uri="{FF2B5EF4-FFF2-40B4-BE49-F238E27FC236}">
                <a16:creationId xmlns:a16="http://schemas.microsoft.com/office/drawing/2014/main" id="{2C35A967-72E5-42AE-AFF1-C21E81B749CB}"/>
              </a:ext>
            </a:extLst>
          </p:cNvPr>
          <p:cNvSpPr>
            <a:spLocks xmlns:a="http://schemas.openxmlformats.org/drawingml/2006/main" noGrp="1"/>
          </p:cNvSpPr>
          <p:nvPr/>
        </p:nvSpPr>
        <p:spPr>
          <a:xfrm xmlns:a="http://schemas.openxmlformats.org/drawingml/2006/main">
            <a:off x="2651760" y="3840480"/>
            <a:ext cx="1645920" cy="640080"/>
          </a:xfrm>
          <a:prstGeom xmlns:a="http://schemas.openxmlformats.org/drawingml/2006/main" prst="roundRect">
            <a:avLst>
              <a:gd name="adj" fmla="val 14286"/>
            </a:avLst>
          </a:prstGeom>
          <a:solidFill xmlns:a="http://schemas.openxmlformats.org/drawingml/2006/main">
            <a:schemeClr val="tx2"/>
          </a:solidFill>
          <a:ln xmlns:a="http://schemas.openxmlformats.org/drawingml/2006/main" w="12700">
            <a:solidFill>
              <a:schemeClr val="tx2"/>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8FFA91E0-2A93-49A6-A8A6-4D3787729435}"/>
              </a:ext>
            </a:extLst>
          </p:cNvPr>
          <p:cNvSpPr>
            <a:spLocks xmlns:a="http://schemas.openxmlformats.org/drawingml/2006/main" noGrp="1"/>
          </p:cNvSpPr>
          <p:nvPr/>
        </p:nvSpPr>
        <p:spPr>
          <a:xfrm xmlns:a="http://schemas.openxmlformats.org/drawingml/2006/main">
            <a:off x="2651760" y="3840480"/>
            <a:ext cx="16459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Filter</a:t>
            </a:r>
            <a:endParaRPr sz="1600"/>
          </a:p>
        </p:txBody>
      </p:sp>
      <p:sp>
        <p:nvSpPr>
          <p:cNvPr id="17" name="Shape 14">
            <a:extLst xmlns:a="http://schemas.openxmlformats.org/drawingml/2006/main">
              <a:ext uri="{FF2B5EF4-FFF2-40B4-BE49-F238E27FC236}">
                <a16:creationId xmlns:a16="http://schemas.microsoft.com/office/drawing/2014/main" id="{06780416-EF62-429A-8386-0B42DA4FB5D0}"/>
              </a:ext>
            </a:extLst>
          </p:cNvPr>
          <p:cNvSpPr>
            <a:spLocks xmlns:a="http://schemas.openxmlformats.org/drawingml/2006/main" noGrp="1"/>
          </p:cNvSpPr>
          <p:nvPr/>
        </p:nvSpPr>
        <p:spPr>
          <a:xfrm xmlns:a="http://schemas.openxmlformats.org/drawingml/2006/main">
            <a:off x="4315968" y="4160520"/>
            <a:ext cx="512064" cy="0"/>
          </a:xfrm>
          <a:prstGeom xmlns:a="http://schemas.openxmlformats.org/drawingml/2006/main" prst="line">
            <a:avLst/>
          </a:prstGeom>
          <a:noFill xmlns:a="http://schemas.openxmlformats.org/drawingml/2006/main"/>
          <a:ln xmlns:a="http://schemas.openxmlformats.org/drawingml/2006/main" w="25400">
            <a:solidFill>
              <a:schemeClr val="accent6"/>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3DE96CE0-D40C-42A3-8688-903537757690}"/>
              </a:ext>
            </a:extLst>
          </p:cNvPr>
          <p:cNvSpPr>
            <a:spLocks xmlns:a="http://schemas.openxmlformats.org/drawingml/2006/main" noGrp="1"/>
          </p:cNvSpPr>
          <p:nvPr/>
        </p:nvSpPr>
        <p:spPr>
          <a:xfrm xmlns:a="http://schemas.openxmlformats.org/drawingml/2006/main">
            <a:off x="4846320" y="3840480"/>
            <a:ext cx="1645920" cy="640080"/>
          </a:xfrm>
          <a:prstGeom xmlns:a="http://schemas.openxmlformats.org/drawingml/2006/main" prst="roundRect">
            <a:avLst>
              <a:gd name="adj" fmla="val 14286"/>
            </a:avLst>
          </a:prstGeom>
          <a:solidFill xmlns:a="http://schemas.openxmlformats.org/drawingml/2006/main">
            <a:schemeClr val="tx2"/>
          </a:solidFill>
          <a:ln xmlns:a="http://schemas.openxmlformats.org/drawingml/2006/main" w="12700">
            <a:solidFill>
              <a:schemeClr val="tx2"/>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FB790678-3184-4CBA-86A6-5B3D448E087C}"/>
              </a:ext>
            </a:extLst>
          </p:cNvPr>
          <p:cNvSpPr>
            <a:spLocks xmlns:a="http://schemas.openxmlformats.org/drawingml/2006/main" noGrp="1"/>
          </p:cNvSpPr>
          <p:nvPr/>
        </p:nvSpPr>
        <p:spPr>
          <a:xfrm xmlns:a="http://schemas.openxmlformats.org/drawingml/2006/main">
            <a:off x="4846320" y="3840480"/>
            <a:ext cx="16459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Correction</a:t>
            </a:r>
            <a:endParaRPr sz="1600"/>
          </a:p>
        </p:txBody>
      </p:sp>
      <p:sp>
        <p:nvSpPr>
          <p:cNvPr id="20" name="Shape 17">
            <a:extLst xmlns:a="http://schemas.openxmlformats.org/drawingml/2006/main">
              <a:ext uri="{FF2B5EF4-FFF2-40B4-BE49-F238E27FC236}">
                <a16:creationId xmlns:a16="http://schemas.microsoft.com/office/drawing/2014/main" id="{2D50E337-264C-4A63-94C8-7DD7A3B7D406}"/>
              </a:ext>
            </a:extLst>
          </p:cNvPr>
          <p:cNvSpPr>
            <a:spLocks xmlns:a="http://schemas.openxmlformats.org/drawingml/2006/main" noGrp="1"/>
          </p:cNvSpPr>
          <p:nvPr/>
        </p:nvSpPr>
        <p:spPr>
          <a:xfrm xmlns:a="http://schemas.openxmlformats.org/drawingml/2006/main">
            <a:off x="6510528" y="4160520"/>
            <a:ext cx="512064" cy="0"/>
          </a:xfrm>
          <a:prstGeom xmlns:a="http://schemas.openxmlformats.org/drawingml/2006/main" prst="line">
            <a:avLst/>
          </a:prstGeom>
          <a:noFill xmlns:a="http://schemas.openxmlformats.org/drawingml/2006/main"/>
          <a:ln xmlns:a="http://schemas.openxmlformats.org/drawingml/2006/main" w="25400">
            <a:solidFill>
              <a:schemeClr val="accent6"/>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21" name="Shape 18">
            <a:extLst xmlns:a="http://schemas.openxmlformats.org/drawingml/2006/main">
              <a:ext uri="{FF2B5EF4-FFF2-40B4-BE49-F238E27FC236}">
                <a16:creationId xmlns:a16="http://schemas.microsoft.com/office/drawing/2014/main" id="{DC82423F-323F-487E-9E3D-898B1A766E81}"/>
              </a:ext>
            </a:extLst>
          </p:cNvPr>
          <p:cNvSpPr>
            <a:spLocks xmlns:a="http://schemas.openxmlformats.org/drawingml/2006/main" noGrp="1"/>
          </p:cNvSpPr>
          <p:nvPr/>
        </p:nvSpPr>
        <p:spPr>
          <a:xfrm xmlns:a="http://schemas.openxmlformats.org/drawingml/2006/main">
            <a:off x="7040880" y="3840480"/>
            <a:ext cx="1645920" cy="640080"/>
          </a:xfrm>
          <a:prstGeom xmlns:a="http://schemas.openxmlformats.org/drawingml/2006/main" prst="roundRect">
            <a:avLst>
              <a:gd name="adj" fmla="val 14286"/>
            </a:avLst>
          </a:prstGeom>
          <a:solidFill xmlns:a="http://schemas.openxmlformats.org/drawingml/2006/main">
            <a:schemeClr val="accent1"/>
          </a:solidFill>
          <a:ln xmlns:a="http://schemas.openxmlformats.org/drawingml/2006/main" w="12700">
            <a:solidFill>
              <a:schemeClr val="tx2"/>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9">
            <a:extLst xmlns:a="http://schemas.openxmlformats.org/drawingml/2006/main">
              <a:ext uri="{FF2B5EF4-FFF2-40B4-BE49-F238E27FC236}">
                <a16:creationId xmlns:a16="http://schemas.microsoft.com/office/drawing/2014/main" id="{0EB17281-E609-4477-B707-89E6AAE4CB7C}"/>
              </a:ext>
            </a:extLst>
          </p:cNvPr>
          <p:cNvSpPr>
            <a:spLocks xmlns:a="http://schemas.openxmlformats.org/drawingml/2006/main" noGrp="1"/>
          </p:cNvSpPr>
          <p:nvPr/>
        </p:nvSpPr>
        <p:spPr>
          <a:xfrm xmlns:a="http://schemas.openxmlformats.org/drawingml/2006/main">
            <a:off x="7040880" y="3840480"/>
            <a:ext cx="16459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tx1"/>
                </a:solidFill>
              </a:rPr>
              <a:t>Virtual angle</a:t>
            </a:r>
            <a:endParaRPr sz="1600"/>
          </a:p>
        </p:txBody>
      </p:sp>
      <p:sp>
        <p:nvSpPr>
          <p:cNvPr id="25" name="Slide Number Placeholder 0">
            <a:extLst xmlns:a="http://schemas.openxmlformats.org/drawingml/2006/main">
              <a:ext uri="{FF2B5EF4-FFF2-40B4-BE49-F238E27FC236}">
                <a16:creationId xmlns:a16="http://schemas.microsoft.com/office/drawing/2014/main" id="{C3FF2926-4AC9-4154-9A7A-9E19D3CCBEB6}"/>
              </a:ext>
            </a:extLst>
          </p:cNvPr>
          <p:cNvSpPr>
            <a:spLocks xmlns:a="http://schemas.openxmlformats.org/drawingml/2006/main" noGrp="1"/>
          </p:cNvSpPr>
          <p:nvPr>
            <p:ph type="sldNum" idx="4294967295"/>
          </p:nvPr>
        </p:nvSpPr>
        <p:spPr>
          <a:xfrm xmlns:a="http://schemas.openxmlformats.org/drawingml/2006/main">
            <a:off x="8321040" y="480060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6"/>
                </a:solidFill>
              </a:defRPr>
            </a:lvl1pPr>
          </a:lstStyle>
          <a:p xmlns:a="http://schemas.openxmlformats.org/drawingml/2006/main">
            <a:pPr algn="l">
              <a:buNone/>
            </a:pPr>
            <a:fld id="{8C630A04-5A25-9E0C-9436-126091DB86B3}" type="slidenum">
              <a:rPr b="0"/>
              <a:t>6</a:t>
            </a:fld>
            <a:endParaRPr/>
          </a:p>
        </p:txBody>
      </p:sp>
    </p:spTree>
    <p:extLst>
      <p:ext uri="{BB962C8B-B14F-4D97-AF65-F5344CB8AC3E}">
        <p14:creationId xmlns:p14="http://schemas.microsoft.com/office/powerpoint/2010/main" val="21087780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5F257D2-B7FC-4F1B-A742-FFDF43491143}"/>
              </a:ext>
            </a:extLst>
          </p:cNvPr>
          <p:cNvSpPr>
            <a:spLocks xmlns:a="http://schemas.openxmlformats.org/drawingml/2006/main" noGrp="1"/>
          </p:cNvSpPr>
          <p:nvPr/>
        </p:nvSpPr>
        <p:spPr>
          <a:xfrm xmlns:a="http://schemas.openxmlformats.org/drawingml/2006/main">
            <a:off x="457200" y="27432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200" b="1">
                <a:solidFill>
                  <a:schemeClr val="tx1"/>
                </a:solidFill>
              </a:rPr>
              <a:t>One-ToF readiness rules</a:t>
            </a:r>
            <a:endParaRPr sz="3200"/>
          </a:p>
        </p:txBody>
      </p:sp>
      <p:sp>
        <p:nvSpPr>
          <p:cNvPr id="4" name="col0">
            <a:extLst xmlns:a="http://schemas.openxmlformats.org/drawingml/2006/main">
              <a:ext uri="{FF2B5EF4-FFF2-40B4-BE49-F238E27FC236}">
                <a16:creationId xmlns:a16="http://schemas.microsoft.com/office/drawing/2014/main" id="{1A5B4A19-41DD-4794-83B3-F5EFB4B00699}"/>
              </a:ext>
            </a:extLst>
          </p:cNvPr>
          <p:cNvSpPr>
            <a:spLocks xmlns:a="http://schemas.openxmlformats.org/drawingml/2006/main" noGrp="1"/>
          </p:cNvSpPr>
          <p:nvPr/>
        </p:nvSpPr>
        <p:spPr>
          <a:xfrm xmlns:a="http://schemas.openxmlformats.org/drawingml/2006/main">
            <a:off x="457200" y="1188720"/>
            <a:ext cx="2651760" cy="2697480"/>
          </a:xfrm>
          <a:prstGeom xmlns:a="http://schemas.openxmlformats.org/drawingml/2006/main" prst="roundRect">
            <a:avLst>
              <a:gd name="adj" fmla="val 4138"/>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D14C6A82-87EF-4C77-8E5A-53D620FAFCEC}"/>
              </a:ext>
            </a:extLst>
          </p:cNvPr>
          <p:cNvSpPr>
            <a:spLocks xmlns:a="http://schemas.openxmlformats.org/drawingml/2006/main" noGrp="1"/>
          </p:cNvSpPr>
          <p:nvPr/>
        </p:nvSpPr>
        <p:spPr>
          <a:xfrm xmlns:a="http://schemas.openxmlformats.org/drawingml/2006/main">
            <a:off x="640080" y="1298448"/>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rPr>
              <a:t>Valid measurements</a:t>
            </a:r>
            <a:endParaRPr sz="1800"/>
          </a:p>
        </p:txBody>
      </p:sp>
      <p:sp>
        <p:nvSpPr>
          <p:cNvPr id="6" name="Text 3">
            <a:extLst xmlns:a="http://schemas.openxmlformats.org/drawingml/2006/main">
              <a:ext uri="{FF2B5EF4-FFF2-40B4-BE49-F238E27FC236}">
                <a16:creationId xmlns:a16="http://schemas.microsoft.com/office/drawing/2014/main" id="{1D22F1A0-C0F7-46DF-9D81-01969BE12266}"/>
              </a:ext>
            </a:extLst>
          </p:cNvPr>
          <p:cNvSpPr>
            <a:spLocks xmlns:a="http://schemas.openxmlformats.org/drawingml/2006/main" noGrp="1"/>
          </p:cNvSpPr>
          <p:nvPr/>
        </p:nvSpPr>
        <p:spPr>
          <a:xfrm xmlns:a="http://schemas.openxmlformats.org/drawingml/2006/main">
            <a:off x="640080" y="1783080"/>
            <a:ext cx="233172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chemeClr val="tx1"/>
                </a:solidFill>
              </a:rPr>
              <a:t>Distance: 100 to 500 mm</a:t>
            </a:r>
            <a:endParaRPr sz="1400"/>
          </a:p>
          <a:p xmlns:a="http://schemas.openxmlformats.org/drawingml/2006/main">
            <a:pPr marL="342900" indent="-342900">
              <a:spcAft>
                <a:spcPts val="600"/>
              </a:spcAft>
              <a:buSzPct val="100000"/>
              <a:buChar char="•"/>
            </a:pPr>
            <a:r>
              <a:rPr sz="1400">
                <a:solidFill>
                  <a:schemeClr val="tx1"/>
                </a:solidFill>
              </a:rPr>
              <a:t>Pitch and roll: within ±10°</a:t>
            </a:r>
            <a:endParaRPr sz="1400"/>
          </a:p>
          <a:p xmlns:a="http://schemas.openxmlformats.org/drawingml/2006/main">
            <a:pPr marL="342900" indent="-342900">
              <a:spcAft>
                <a:spcPts val="600"/>
              </a:spcAft>
              <a:buSzPct val="100000"/>
              <a:buChar char="•"/>
            </a:pPr>
            <a:r>
              <a:rPr sz="1400">
                <a:solidFill>
                  <a:schemeClr val="tx1"/>
                </a:solidFill>
              </a:rPr>
              <a:t>Range age: at most 250 ms</a:t>
            </a:r>
            <a:endParaRPr sz="1400"/>
          </a:p>
        </p:txBody>
      </p:sp>
      <p:sp>
        <p:nvSpPr>
          <p:cNvPr id="7" name="col1">
            <a:extLst xmlns:a="http://schemas.openxmlformats.org/drawingml/2006/main">
              <a:ext uri="{FF2B5EF4-FFF2-40B4-BE49-F238E27FC236}">
                <a16:creationId xmlns:a16="http://schemas.microsoft.com/office/drawing/2014/main" id="{EA141F1C-79E0-4CA5-87C3-2FD28C7355E1}"/>
              </a:ext>
            </a:extLst>
          </p:cNvPr>
          <p:cNvSpPr>
            <a:spLocks xmlns:a="http://schemas.openxmlformats.org/drawingml/2006/main" noGrp="1"/>
          </p:cNvSpPr>
          <p:nvPr/>
        </p:nvSpPr>
        <p:spPr>
          <a:xfrm xmlns:a="http://schemas.openxmlformats.org/drawingml/2006/main">
            <a:off x="3246120" y="1188720"/>
            <a:ext cx="2651760" cy="2697480"/>
          </a:xfrm>
          <a:prstGeom xmlns:a="http://schemas.openxmlformats.org/drawingml/2006/main" prst="roundRect">
            <a:avLst>
              <a:gd name="adj" fmla="val 4138"/>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15F49448-1EE0-4E1F-8FC3-7AA1B73C40B9}"/>
              </a:ext>
            </a:extLst>
          </p:cNvPr>
          <p:cNvSpPr>
            <a:spLocks xmlns:a="http://schemas.openxmlformats.org/drawingml/2006/main" noGrp="1"/>
          </p:cNvSpPr>
          <p:nvPr/>
        </p:nvSpPr>
        <p:spPr>
          <a:xfrm xmlns:a="http://schemas.openxmlformats.org/drawingml/2006/main">
            <a:off x="3429000" y="1298448"/>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rPr>
              <a:t>Stability window</a:t>
            </a:r>
            <a:endParaRPr sz="1800"/>
          </a:p>
        </p:txBody>
      </p:sp>
      <p:sp>
        <p:nvSpPr>
          <p:cNvPr id="9" name="Text 6">
            <a:extLst xmlns:a="http://schemas.openxmlformats.org/drawingml/2006/main">
              <a:ext uri="{FF2B5EF4-FFF2-40B4-BE49-F238E27FC236}">
                <a16:creationId xmlns:a16="http://schemas.microsoft.com/office/drawing/2014/main" id="{1661D83A-FDBE-417F-B5E1-F24C5CDBFF03}"/>
              </a:ext>
            </a:extLst>
          </p:cNvPr>
          <p:cNvSpPr>
            <a:spLocks xmlns:a="http://schemas.openxmlformats.org/drawingml/2006/main" noGrp="1"/>
          </p:cNvSpPr>
          <p:nvPr/>
        </p:nvSpPr>
        <p:spPr>
          <a:xfrm xmlns:a="http://schemas.openxmlformats.org/drawingml/2006/main">
            <a:off x="3429000" y="1783080"/>
            <a:ext cx="233172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chemeClr val="tx1"/>
                </a:solidFill>
              </a:rPr>
              <a:t>10 completed ToF readings</a:t>
            </a:r>
            <a:endParaRPr sz="1400"/>
          </a:p>
          <a:p xmlns:a="http://schemas.openxmlformats.org/drawingml/2006/main">
            <a:pPr marL="342900" indent="-342900">
              <a:spcAft>
                <a:spcPts val="600"/>
              </a:spcAft>
              <a:buSzPct val="100000"/>
              <a:buChar char="•"/>
            </a:pPr>
            <a:r>
              <a:rPr sz="1400">
                <a:solidFill>
                  <a:schemeClr val="tx1"/>
                </a:solidFill>
              </a:rPr>
              <a:t>Distance spread: at most 20 mm</a:t>
            </a:r>
            <a:endParaRPr sz="1400"/>
          </a:p>
          <a:p xmlns:a="http://schemas.openxmlformats.org/drawingml/2006/main">
            <a:pPr marL="342900" indent="-342900">
              <a:spcAft>
                <a:spcPts val="600"/>
              </a:spcAft>
              <a:buSzPct val="100000"/>
              <a:buChar char="•"/>
            </a:pPr>
            <a:r>
              <a:rPr sz="1400">
                <a:solidFill>
                  <a:schemeClr val="tx1"/>
                </a:solidFill>
              </a:rPr>
              <a:t>Each reading within range</a:t>
            </a:r>
            <a:endParaRPr sz="1400"/>
          </a:p>
        </p:txBody>
      </p:sp>
      <p:sp>
        <p:nvSpPr>
          <p:cNvPr id="10" name="col2">
            <a:extLst xmlns:a="http://schemas.openxmlformats.org/drawingml/2006/main">
              <a:ext uri="{FF2B5EF4-FFF2-40B4-BE49-F238E27FC236}">
                <a16:creationId xmlns:a16="http://schemas.microsoft.com/office/drawing/2014/main" id="{3F179D7C-08E7-4CC3-98E3-B6A21F4B4537}"/>
              </a:ext>
            </a:extLst>
          </p:cNvPr>
          <p:cNvSpPr>
            <a:spLocks xmlns:a="http://schemas.openxmlformats.org/drawingml/2006/main" noGrp="1"/>
          </p:cNvSpPr>
          <p:nvPr/>
        </p:nvSpPr>
        <p:spPr>
          <a:xfrm xmlns:a="http://schemas.openxmlformats.org/drawingml/2006/main">
            <a:off x="6035040" y="1188720"/>
            <a:ext cx="2651760" cy="2697480"/>
          </a:xfrm>
          <a:prstGeom xmlns:a="http://schemas.openxmlformats.org/drawingml/2006/main" prst="roundRect">
            <a:avLst>
              <a:gd name="adj" fmla="val 4138"/>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35B7999A-A17E-4B32-9E35-4A219771131E}"/>
              </a:ext>
            </a:extLst>
          </p:cNvPr>
          <p:cNvSpPr>
            <a:spLocks xmlns:a="http://schemas.openxmlformats.org/drawingml/2006/main" noGrp="1"/>
          </p:cNvSpPr>
          <p:nvPr/>
        </p:nvSpPr>
        <p:spPr>
          <a:xfrm xmlns:a="http://schemas.openxmlformats.org/drawingml/2006/main">
            <a:off x="6217920" y="1298448"/>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rPr>
              <a:t>Qualification</a:t>
            </a:r>
            <a:endParaRPr sz="1800"/>
          </a:p>
        </p:txBody>
      </p:sp>
      <p:sp>
        <p:nvSpPr>
          <p:cNvPr id="12" name="Text 9">
            <a:extLst xmlns:a="http://schemas.openxmlformats.org/drawingml/2006/main">
              <a:ext uri="{FF2B5EF4-FFF2-40B4-BE49-F238E27FC236}">
                <a16:creationId xmlns:a16="http://schemas.microsoft.com/office/drawing/2014/main" id="{F4DD119B-0AFC-466B-8BDD-6C04B0A76B5B}"/>
              </a:ext>
            </a:extLst>
          </p:cNvPr>
          <p:cNvSpPr>
            <a:spLocks xmlns:a="http://schemas.openxmlformats.org/drawingml/2006/main" noGrp="1"/>
          </p:cNvSpPr>
          <p:nvPr/>
        </p:nvSpPr>
        <p:spPr>
          <a:xfrm xmlns:a="http://schemas.openxmlformats.org/drawingml/2006/main">
            <a:off x="6217920" y="1783080"/>
            <a:ext cx="233172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chemeClr val="tx1"/>
                </a:solidFill>
              </a:rPr>
              <a:t>All checks pass for 1 second</a:t>
            </a:r>
            <a:endParaRPr sz="1400"/>
          </a:p>
          <a:p xmlns:a="http://schemas.openxmlformats.org/drawingml/2006/main">
            <a:pPr marL="342900" indent="-342900">
              <a:spcAft>
                <a:spcPts val="600"/>
              </a:spcAft>
              <a:buSzPct val="100000"/>
              <a:buChar char="•"/>
            </a:pPr>
            <a:r>
              <a:rPr sz="1400">
                <a:solidFill>
                  <a:schemeClr val="tx1"/>
                </a:solidFill>
              </a:rPr>
              <a:t>UNKNOWN while collecting</a:t>
            </a:r>
            <a:endParaRPr sz="1400"/>
          </a:p>
          <a:p xmlns:a="http://schemas.openxmlformats.org/drawingml/2006/main">
            <a:pPr marL="342900" indent="-342900">
              <a:spcAft>
                <a:spcPts val="600"/>
              </a:spcAft>
              <a:buSzPct val="100000"/>
              <a:buChar char="•"/>
            </a:pPr>
            <a:r>
              <a:rPr sz="1400">
                <a:solidFill>
                  <a:schemeClr val="tx1"/>
                </a:solidFill>
              </a:rPr>
              <a:t>UNSAFE when a rule fails</a:t>
            </a:r>
            <a:endParaRPr sz="1400"/>
          </a:p>
        </p:txBody>
      </p:sp>
      <p:sp>
        <p:nvSpPr>
          <p:cNvPr id="13" name="feat">
            <a:extLst xmlns:a="http://schemas.openxmlformats.org/drawingml/2006/main">
              <a:ext uri="{FF2B5EF4-FFF2-40B4-BE49-F238E27FC236}">
                <a16:creationId xmlns:a16="http://schemas.microsoft.com/office/drawing/2014/main" id="{704BFB86-75E0-43C8-9441-3C9BF5E0BDD4}"/>
              </a:ext>
            </a:extLst>
          </p:cNvPr>
          <p:cNvSpPr>
            <a:spLocks xmlns:a="http://schemas.openxmlformats.org/drawingml/2006/main" noGrp="1"/>
          </p:cNvSpPr>
          <p:nvPr/>
        </p:nvSpPr>
        <p:spPr>
          <a:xfrm xmlns:a="http://schemas.openxmlformats.org/drawingml/2006/main">
            <a:off x="457200" y="4069080"/>
            <a:ext cx="8229600" cy="548640"/>
          </a:xfrm>
          <a:prstGeom xmlns:a="http://schemas.openxmlformats.org/drawingml/2006/main" prst="roundRect">
            <a:avLst>
              <a:gd name="adj" fmla="val 20000"/>
            </a:avLst>
          </a:prstGeom>
          <a:solidFill xmlns:a="http://schemas.openxmlformats.org/drawingml/2006/main">
            <a:schemeClr val="tx2"/>
          </a:solidFill>
          <a:ln xmlns:a="http://schemas.openxmlformats.org/drawingml/2006/main" w="12700">
            <a:solidFill>
              <a:schemeClr val="tx2"/>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A234D625-C85E-431A-BA7B-A333C9C3DD5E}"/>
              </a:ext>
            </a:extLst>
          </p:cNvPr>
          <p:cNvSpPr>
            <a:spLocks xmlns:a="http://schemas.openxmlformats.org/drawingml/2006/main" noGrp="1"/>
          </p:cNvSpPr>
          <p:nvPr/>
        </p:nvSpPr>
        <p:spPr>
          <a:xfrm xmlns:a="http://schemas.openxmlformats.org/drawingml/2006/main">
            <a:off x="640080" y="4069080"/>
            <a:ext cx="7863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bg1"/>
                </a:solidFill>
              </a:rPr>
              <a:t>READY permits a manual D request. One beam does not establish terrain slope or material.</a:t>
            </a:r>
            <a:endParaRPr sz="1400"/>
          </a:p>
        </p:txBody>
      </p:sp>
      <p:sp>
        <p:nvSpPr>
          <p:cNvPr id="25" name="Slide Number Placeholder 0">
            <a:extLst xmlns:a="http://schemas.openxmlformats.org/drawingml/2006/main">
              <a:ext uri="{FF2B5EF4-FFF2-40B4-BE49-F238E27FC236}">
                <a16:creationId xmlns:a16="http://schemas.microsoft.com/office/drawing/2014/main" id="{71DC055B-1477-4907-8F16-7AE0A0C7F84D}"/>
              </a:ext>
            </a:extLst>
          </p:cNvPr>
          <p:cNvSpPr>
            <a:spLocks xmlns:a="http://schemas.openxmlformats.org/drawingml/2006/main" noGrp="1"/>
          </p:cNvSpPr>
          <p:nvPr>
            <p:ph type="sldNum" idx="4294967295"/>
          </p:nvPr>
        </p:nvSpPr>
        <p:spPr>
          <a:xfrm xmlns:a="http://schemas.openxmlformats.org/drawingml/2006/main">
            <a:off x="8321040" y="480060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6"/>
                </a:solidFill>
              </a:defRPr>
            </a:lvl1pPr>
          </a:lstStyle>
          <a:p xmlns:a="http://schemas.openxmlformats.org/drawingml/2006/main">
            <a:pPr algn="l">
              <a:buNone/>
            </a:pPr>
            <a:fld id="{D3D7D1C8-AE23-AA48-DF65-C742588DBE47}" type="slidenum">
              <a:rPr b="0"/>
              <a:t>7</a:t>
            </a:fld>
            <a:endParaRPr/>
          </a:p>
        </p:txBody>
      </p:sp>
    </p:spTree>
    <p:extLst>
      <p:ext uri="{BB962C8B-B14F-4D97-AF65-F5344CB8AC3E}">
        <p14:creationId xmlns:p14="http://schemas.microsoft.com/office/powerpoint/2010/main" val="69683407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BB0E33B-4BE6-4113-8E1D-8B6842C04A1A}"/>
              </a:ext>
            </a:extLst>
          </p:cNvPr>
          <p:cNvSpPr>
            <a:spLocks xmlns:a="http://schemas.openxmlformats.org/drawingml/2006/main" noGrp="1"/>
          </p:cNvSpPr>
          <p:nvPr/>
        </p:nvSpPr>
        <p:spPr>
          <a:xfrm xmlns:a="http://schemas.openxmlformats.org/drawingml/2006/main">
            <a:off x="457200" y="27432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200" b="1">
                <a:solidFill>
                  <a:schemeClr val="tx1"/>
                </a:solidFill>
              </a:rPr>
              <a:t>Latched gear sequence on the Uno</a:t>
            </a:r>
            <a:endParaRPr sz="3200"/>
          </a:p>
        </p:txBody>
      </p:sp>
      <p:sp>
        <p:nvSpPr>
          <p:cNvPr id="4" name="Shape 1">
            <a:extLst xmlns:a="http://schemas.openxmlformats.org/drawingml/2006/main">
              <a:ext uri="{FF2B5EF4-FFF2-40B4-BE49-F238E27FC236}">
                <a16:creationId xmlns:a16="http://schemas.microsoft.com/office/drawing/2014/main" id="{A903C4F4-2C04-4ED6-A103-1414CD970B99}"/>
              </a:ext>
            </a:extLst>
          </p:cNvPr>
          <p:cNvSpPr>
            <a:spLocks xmlns:a="http://schemas.openxmlformats.org/drawingml/2006/main" noGrp="1"/>
          </p:cNvSpPr>
          <p:nvPr/>
        </p:nvSpPr>
        <p:spPr>
          <a:xfrm xmlns:a="http://schemas.openxmlformats.org/drawingml/2006/main">
            <a:off x="457200" y="1234440"/>
            <a:ext cx="2286000" cy="731520"/>
          </a:xfrm>
          <a:prstGeom xmlns:a="http://schemas.openxmlformats.org/drawingml/2006/main" prst="roundRect">
            <a:avLst>
              <a:gd name="adj" fmla="val 12500"/>
            </a:avLst>
          </a:prstGeom>
          <a:solidFill xmlns:a="http://schemas.openxmlformats.org/drawingml/2006/main">
            <a:schemeClr val="tx2"/>
          </a:solidFill>
          <a:ln xmlns:a="http://schemas.openxmlformats.org/drawingml/2006/main" w="12700">
            <a:solidFill>
              <a:schemeClr val="tx2"/>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0D4F0820-A535-487D-BB94-FD737B758849}"/>
              </a:ext>
            </a:extLst>
          </p:cNvPr>
          <p:cNvSpPr>
            <a:spLocks xmlns:a="http://schemas.openxmlformats.org/drawingml/2006/main" noGrp="1"/>
          </p:cNvSpPr>
          <p:nvPr/>
        </p:nvSpPr>
        <p:spPr>
          <a:xfrm xmlns:a="http://schemas.openxmlformats.org/drawingml/2006/main">
            <a:off x="457200" y="1234440"/>
            <a:ext cx="2286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STOWED</a:t>
            </a:r>
            <a:endParaRPr sz="1600"/>
          </a:p>
        </p:txBody>
      </p:sp>
      <p:sp>
        <p:nvSpPr>
          <p:cNvPr id="6" name="Shape 3">
            <a:extLst xmlns:a="http://schemas.openxmlformats.org/drawingml/2006/main">
              <a:ext uri="{FF2B5EF4-FFF2-40B4-BE49-F238E27FC236}">
                <a16:creationId xmlns:a16="http://schemas.microsoft.com/office/drawing/2014/main" id="{18E6DC3F-B49E-4CF9-B960-01BF0FE0A385}"/>
              </a:ext>
            </a:extLst>
          </p:cNvPr>
          <p:cNvSpPr>
            <a:spLocks xmlns:a="http://schemas.openxmlformats.org/drawingml/2006/main" noGrp="1"/>
          </p:cNvSpPr>
          <p:nvPr/>
        </p:nvSpPr>
        <p:spPr>
          <a:xfrm xmlns:a="http://schemas.openxmlformats.org/drawingml/2006/main">
            <a:off x="2761488" y="1600200"/>
            <a:ext cx="649224" cy="0"/>
          </a:xfrm>
          <a:prstGeom xmlns:a="http://schemas.openxmlformats.org/drawingml/2006/main" prst="line">
            <a:avLst/>
          </a:prstGeom>
          <a:noFill xmlns:a="http://schemas.openxmlformats.org/drawingml/2006/main"/>
          <a:ln xmlns:a="http://schemas.openxmlformats.org/drawingml/2006/main" w="25400">
            <a:solidFill>
              <a:schemeClr val="accent1"/>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8B4B500A-C774-4DDA-A1C8-0CDA314AEF68}"/>
              </a:ext>
            </a:extLst>
          </p:cNvPr>
          <p:cNvSpPr>
            <a:spLocks xmlns:a="http://schemas.openxmlformats.org/drawingml/2006/main" noGrp="1"/>
          </p:cNvSpPr>
          <p:nvPr/>
        </p:nvSpPr>
        <p:spPr>
          <a:xfrm xmlns:a="http://schemas.openxmlformats.org/drawingml/2006/main">
            <a:off x="3429000" y="1234440"/>
            <a:ext cx="2286000" cy="731520"/>
          </a:xfrm>
          <a:prstGeom xmlns:a="http://schemas.openxmlformats.org/drawingml/2006/main" prst="roundRect">
            <a:avLst>
              <a:gd name="adj" fmla="val 12500"/>
            </a:avLst>
          </a:prstGeom>
          <a:solidFill xmlns:a="http://schemas.openxmlformats.org/drawingml/2006/main">
            <a:schemeClr val="tx2"/>
          </a:solidFill>
          <a:ln xmlns:a="http://schemas.openxmlformats.org/drawingml/2006/main" w="12700">
            <a:solidFill>
              <a:schemeClr val="tx2"/>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4BE606B5-4E89-4B13-B568-062AD1001CD4}"/>
              </a:ext>
            </a:extLst>
          </p:cNvPr>
          <p:cNvSpPr>
            <a:spLocks xmlns:a="http://schemas.openxmlformats.org/drawingml/2006/main" noGrp="1"/>
          </p:cNvSpPr>
          <p:nvPr/>
        </p:nvSpPr>
        <p:spPr>
          <a:xfrm xmlns:a="http://schemas.openxmlformats.org/drawingml/2006/main">
            <a:off x="3429000" y="1234440"/>
            <a:ext cx="2286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READY</a:t>
            </a:r>
            <a:endParaRPr sz="1600"/>
          </a:p>
        </p:txBody>
      </p:sp>
      <p:sp>
        <p:nvSpPr>
          <p:cNvPr id="9" name="Shape 6">
            <a:extLst xmlns:a="http://schemas.openxmlformats.org/drawingml/2006/main">
              <a:ext uri="{FF2B5EF4-FFF2-40B4-BE49-F238E27FC236}">
                <a16:creationId xmlns:a16="http://schemas.microsoft.com/office/drawing/2014/main" id="{8C0C241F-7374-4F70-8AE5-F0D34FDC3ECD}"/>
              </a:ext>
            </a:extLst>
          </p:cNvPr>
          <p:cNvSpPr>
            <a:spLocks xmlns:a="http://schemas.openxmlformats.org/drawingml/2006/main" noGrp="1"/>
          </p:cNvSpPr>
          <p:nvPr/>
        </p:nvSpPr>
        <p:spPr>
          <a:xfrm xmlns:a="http://schemas.openxmlformats.org/drawingml/2006/main">
            <a:off x="5733288" y="1600200"/>
            <a:ext cx="649224" cy="0"/>
          </a:xfrm>
          <a:prstGeom xmlns:a="http://schemas.openxmlformats.org/drawingml/2006/main" prst="line">
            <a:avLst/>
          </a:prstGeom>
          <a:noFill xmlns:a="http://schemas.openxmlformats.org/drawingml/2006/main"/>
          <a:ln xmlns:a="http://schemas.openxmlformats.org/drawingml/2006/main" w="25400">
            <a:solidFill>
              <a:schemeClr val="accent1"/>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0" name="Shape 7">
            <a:extLst xmlns:a="http://schemas.openxmlformats.org/drawingml/2006/main">
              <a:ext uri="{FF2B5EF4-FFF2-40B4-BE49-F238E27FC236}">
                <a16:creationId xmlns:a16="http://schemas.microsoft.com/office/drawing/2014/main" id="{B37D54A5-2975-4CAA-AA9C-875B110CFE6B}"/>
              </a:ext>
            </a:extLst>
          </p:cNvPr>
          <p:cNvSpPr>
            <a:spLocks xmlns:a="http://schemas.openxmlformats.org/drawingml/2006/main" noGrp="1"/>
          </p:cNvSpPr>
          <p:nvPr/>
        </p:nvSpPr>
        <p:spPr>
          <a:xfrm xmlns:a="http://schemas.openxmlformats.org/drawingml/2006/main">
            <a:off x="6400800" y="1234440"/>
            <a:ext cx="2286000" cy="731520"/>
          </a:xfrm>
          <a:prstGeom xmlns:a="http://schemas.openxmlformats.org/drawingml/2006/main" prst="roundRect">
            <a:avLst>
              <a:gd name="adj" fmla="val 12500"/>
            </a:avLst>
          </a:prstGeom>
          <a:solidFill xmlns:a="http://schemas.openxmlformats.org/drawingml/2006/main">
            <a:schemeClr val="accent4"/>
          </a:solidFill>
          <a:ln xmlns:a="http://schemas.openxmlformats.org/drawingml/2006/main" w="12700">
            <a:solidFill>
              <a:schemeClr val="tx2"/>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B49F272D-690E-4E98-85A7-CFBF1BA95F66}"/>
              </a:ext>
            </a:extLst>
          </p:cNvPr>
          <p:cNvSpPr>
            <a:spLocks xmlns:a="http://schemas.openxmlformats.org/drawingml/2006/main" noGrp="1"/>
          </p:cNvSpPr>
          <p:nvPr/>
        </p:nvSpPr>
        <p:spPr>
          <a:xfrm xmlns:a="http://schemas.openxmlformats.org/drawingml/2006/main">
            <a:off x="6400800" y="1234440"/>
            <a:ext cx="2286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DEPLOYED</a:t>
            </a:r>
            <a:endParaRPr sz="1600"/>
          </a:p>
        </p:txBody>
      </p:sp>
      <p:sp>
        <p:nvSpPr>
          <p:cNvPr id="12" name="Text 9">
            <a:extLst xmlns:a="http://schemas.openxmlformats.org/drawingml/2006/main">
              <a:ext uri="{FF2B5EF4-FFF2-40B4-BE49-F238E27FC236}">
                <a16:creationId xmlns:a16="http://schemas.microsoft.com/office/drawing/2014/main" id="{0CD8F12F-7251-424E-9E53-D5A55FE27E5F}"/>
              </a:ext>
            </a:extLst>
          </p:cNvPr>
          <p:cNvSpPr>
            <a:spLocks xmlns:a="http://schemas.openxmlformats.org/drawingml/2006/main" noGrp="1"/>
          </p:cNvSpPr>
          <p:nvPr/>
        </p:nvSpPr>
        <p:spPr>
          <a:xfrm xmlns:a="http://schemas.openxmlformats.org/drawingml/2006/main">
            <a:off x="457200" y="2148840"/>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400"/>
            </a:defPPr>
          </a:lstStyle>
          <a:p xmlns:a="http://schemas.openxmlformats.org/drawingml/2006/main">
            <a:pPr marL="0" indent="0">
              <a:buNone/>
              <a:defRPr sz="1400"/>
            </a:pPr>
            <a:r>
              <a:rPr sz="1400" b="1">
                <a:solidFill>
                  <a:schemeClr val="accent3"/>
                </a:solidFill>
              </a:rPr>
              <a:t>D deploys while READY. Gear stays deployed after readiness loss. S or reset stows the gear.</a:t>
            </a:r>
            <a:endParaRPr sz="1400"/>
          </a:p>
        </p:txBody>
      </p:sp>
      <p:sp>
        <p:nvSpPr>
          <p:cNvPr id="13" name="res0">
            <a:extLst xmlns:a="http://schemas.openxmlformats.org/drawingml/2006/main">
              <a:ext uri="{FF2B5EF4-FFF2-40B4-BE49-F238E27FC236}">
                <a16:creationId xmlns:a16="http://schemas.microsoft.com/office/drawing/2014/main" id="{E9B918B1-B8B7-4621-B9F1-4F2599714ED8}"/>
              </a:ext>
            </a:extLst>
          </p:cNvPr>
          <p:cNvSpPr>
            <a:spLocks xmlns:a="http://schemas.openxmlformats.org/drawingml/2006/main" noGrp="1"/>
          </p:cNvSpPr>
          <p:nvPr/>
        </p:nvSpPr>
        <p:spPr>
          <a:xfrm xmlns:a="http://schemas.openxmlformats.org/drawingml/2006/main">
            <a:off x="457200" y="2788920"/>
            <a:ext cx="1920240" cy="1554480"/>
          </a:xfrm>
          <a:prstGeom xmlns:a="http://schemas.openxmlformats.org/drawingml/2006/main" prst="roundRect">
            <a:avLst>
              <a:gd name="adj" fmla="val 7059"/>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77EEDA47-2D74-4CC2-A455-78FD3C0602A1}"/>
              </a:ext>
            </a:extLst>
          </p:cNvPr>
          <p:cNvSpPr>
            <a:spLocks xmlns:a="http://schemas.openxmlformats.org/drawingml/2006/main" noGrp="1"/>
          </p:cNvSpPr>
          <p:nvPr/>
        </p:nvSpPr>
        <p:spPr>
          <a:xfrm xmlns:a="http://schemas.openxmlformats.org/drawingml/2006/main">
            <a:off x="548640" y="2926080"/>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chemeClr val="accent2"/>
                </a:solidFill>
              </a:rPr>
              <a:t>100 Hz</a:t>
            </a:r>
            <a:endParaRPr sz="2800"/>
          </a:p>
        </p:txBody>
      </p:sp>
      <p:sp>
        <p:nvSpPr>
          <p:cNvPr id="15" name="Text 12">
            <a:extLst xmlns:a="http://schemas.openxmlformats.org/drawingml/2006/main">
              <a:ext uri="{FF2B5EF4-FFF2-40B4-BE49-F238E27FC236}">
                <a16:creationId xmlns:a16="http://schemas.microsoft.com/office/drawing/2014/main" id="{BD30E5ED-CEC4-427A-B347-013382CE98BD}"/>
              </a:ext>
            </a:extLst>
          </p:cNvPr>
          <p:cNvSpPr>
            <a:spLocks xmlns:a="http://schemas.openxmlformats.org/drawingml/2006/main" noGrp="1"/>
          </p:cNvSpPr>
          <p:nvPr/>
        </p:nvSpPr>
        <p:spPr>
          <a:xfrm xmlns:a="http://schemas.openxmlformats.org/drawingml/2006/main">
            <a:off x="594360" y="3611880"/>
            <a:ext cx="16459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chemeClr val="tx1"/>
                </a:solidFill>
              </a:rPr>
              <a:t>nominal sensor sampling</a:t>
            </a:r>
            <a:endParaRPr sz="1400"/>
          </a:p>
        </p:txBody>
      </p:sp>
      <p:sp>
        <p:nvSpPr>
          <p:cNvPr id="16" name="res1">
            <a:extLst xmlns:a="http://schemas.openxmlformats.org/drawingml/2006/main">
              <a:ext uri="{FF2B5EF4-FFF2-40B4-BE49-F238E27FC236}">
                <a16:creationId xmlns:a16="http://schemas.microsoft.com/office/drawing/2014/main" id="{48B34E20-B8D5-4AF8-99C4-CAB38DB22E7C}"/>
              </a:ext>
            </a:extLst>
          </p:cNvPr>
          <p:cNvSpPr>
            <a:spLocks xmlns:a="http://schemas.openxmlformats.org/drawingml/2006/main" noGrp="1"/>
          </p:cNvSpPr>
          <p:nvPr/>
        </p:nvSpPr>
        <p:spPr>
          <a:xfrm xmlns:a="http://schemas.openxmlformats.org/drawingml/2006/main">
            <a:off x="2560320" y="2788920"/>
            <a:ext cx="1920240" cy="1554480"/>
          </a:xfrm>
          <a:prstGeom xmlns:a="http://schemas.openxmlformats.org/drawingml/2006/main" prst="roundRect">
            <a:avLst>
              <a:gd name="adj" fmla="val 7059"/>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4268D726-87B0-4B0A-B429-1E3BB89E2D68}"/>
              </a:ext>
            </a:extLst>
          </p:cNvPr>
          <p:cNvSpPr>
            <a:spLocks xmlns:a="http://schemas.openxmlformats.org/drawingml/2006/main" noGrp="1"/>
          </p:cNvSpPr>
          <p:nvPr/>
        </p:nvSpPr>
        <p:spPr>
          <a:xfrm xmlns:a="http://schemas.openxmlformats.org/drawingml/2006/main">
            <a:off x="2651760" y="2926080"/>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chemeClr val="accent2"/>
                </a:solidFill>
              </a:rPr>
              <a:t>2 Hz</a:t>
            </a:r>
            <a:endParaRPr sz="2800"/>
          </a:p>
        </p:txBody>
      </p:sp>
      <p:sp>
        <p:nvSpPr>
          <p:cNvPr id="18" name="Text 15">
            <a:extLst xmlns:a="http://schemas.openxmlformats.org/drawingml/2006/main">
              <a:ext uri="{FF2B5EF4-FFF2-40B4-BE49-F238E27FC236}">
                <a16:creationId xmlns:a16="http://schemas.microsoft.com/office/drawing/2014/main" id="{A7FF9760-4074-451E-966A-F22F854FCD73}"/>
              </a:ext>
            </a:extLst>
          </p:cNvPr>
          <p:cNvSpPr>
            <a:spLocks xmlns:a="http://schemas.openxmlformats.org/drawingml/2006/main" noGrp="1"/>
          </p:cNvSpPr>
          <p:nvPr/>
        </p:nvSpPr>
        <p:spPr>
          <a:xfrm xmlns:a="http://schemas.openxmlformats.org/drawingml/2006/main">
            <a:off x="2697480" y="3611880"/>
            <a:ext cx="16459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chemeClr val="tx1"/>
                </a:solidFill>
              </a:rPr>
              <a:t>readable status reports</a:t>
            </a:r>
            <a:endParaRPr sz="1400"/>
          </a:p>
        </p:txBody>
      </p:sp>
      <p:sp>
        <p:nvSpPr>
          <p:cNvPr id="19" name="res2">
            <a:extLst xmlns:a="http://schemas.openxmlformats.org/drawingml/2006/main">
              <a:ext uri="{FF2B5EF4-FFF2-40B4-BE49-F238E27FC236}">
                <a16:creationId xmlns:a16="http://schemas.microsoft.com/office/drawing/2014/main" id="{A3FC8FDB-25F0-4F13-AB40-82A38DA0A493}"/>
              </a:ext>
            </a:extLst>
          </p:cNvPr>
          <p:cNvSpPr>
            <a:spLocks xmlns:a="http://schemas.openxmlformats.org/drawingml/2006/main" noGrp="1"/>
          </p:cNvSpPr>
          <p:nvPr/>
        </p:nvSpPr>
        <p:spPr>
          <a:xfrm xmlns:a="http://schemas.openxmlformats.org/drawingml/2006/main">
            <a:off x="4663440" y="2788920"/>
            <a:ext cx="1920240" cy="1554480"/>
          </a:xfrm>
          <a:prstGeom xmlns:a="http://schemas.openxmlformats.org/drawingml/2006/main" prst="roundRect">
            <a:avLst>
              <a:gd name="adj" fmla="val 7059"/>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7">
            <a:extLst xmlns:a="http://schemas.openxmlformats.org/drawingml/2006/main">
              <a:ext uri="{FF2B5EF4-FFF2-40B4-BE49-F238E27FC236}">
                <a16:creationId xmlns:a16="http://schemas.microsoft.com/office/drawing/2014/main" id="{62DADDBC-D40E-42C9-9C3A-50A90E57EF37}"/>
              </a:ext>
            </a:extLst>
          </p:cNvPr>
          <p:cNvSpPr>
            <a:spLocks xmlns:a="http://schemas.openxmlformats.org/drawingml/2006/main" noGrp="1"/>
          </p:cNvSpPr>
          <p:nvPr/>
        </p:nvSpPr>
        <p:spPr>
          <a:xfrm xmlns:a="http://schemas.openxmlformats.org/drawingml/2006/main">
            <a:off x="4754880" y="2926080"/>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chemeClr val="accent2"/>
                </a:solidFill>
              </a:rPr>
              <a:t>20 Hz</a:t>
            </a:r>
            <a:endParaRPr sz="2800"/>
          </a:p>
        </p:txBody>
      </p:sp>
      <p:sp>
        <p:nvSpPr>
          <p:cNvPr id="21" name="Text 18">
            <a:extLst xmlns:a="http://schemas.openxmlformats.org/drawingml/2006/main">
              <a:ext uri="{FF2B5EF4-FFF2-40B4-BE49-F238E27FC236}">
                <a16:creationId xmlns:a16="http://schemas.microsoft.com/office/drawing/2014/main" id="{0F34F30D-8E0D-4C97-BDF5-248AE35FA1CA}"/>
              </a:ext>
            </a:extLst>
          </p:cNvPr>
          <p:cNvSpPr>
            <a:spLocks xmlns:a="http://schemas.openxmlformats.org/drawingml/2006/main" noGrp="1"/>
          </p:cNvSpPr>
          <p:nvPr/>
        </p:nvSpPr>
        <p:spPr>
          <a:xfrm xmlns:a="http://schemas.openxmlformats.org/drawingml/2006/main">
            <a:off x="4800600" y="3611880"/>
            <a:ext cx="16459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chemeClr val="tx1"/>
                </a:solidFill>
              </a:rPr>
              <a:t>optional raw IMU frames</a:t>
            </a:r>
            <a:endParaRPr sz="1400"/>
          </a:p>
        </p:txBody>
      </p:sp>
      <p:sp>
        <p:nvSpPr>
          <p:cNvPr id="22" name="res3">
            <a:extLst xmlns:a="http://schemas.openxmlformats.org/drawingml/2006/main">
              <a:ext uri="{FF2B5EF4-FFF2-40B4-BE49-F238E27FC236}">
                <a16:creationId xmlns:a16="http://schemas.microsoft.com/office/drawing/2014/main" id="{91D773F6-3CFA-4A2C-9A05-50B89A4ABE37}"/>
              </a:ext>
            </a:extLst>
          </p:cNvPr>
          <p:cNvSpPr>
            <a:spLocks xmlns:a="http://schemas.openxmlformats.org/drawingml/2006/main" noGrp="1"/>
          </p:cNvSpPr>
          <p:nvPr/>
        </p:nvSpPr>
        <p:spPr>
          <a:xfrm xmlns:a="http://schemas.openxmlformats.org/drawingml/2006/main">
            <a:off x="6766560" y="2788920"/>
            <a:ext cx="1920240" cy="1554480"/>
          </a:xfrm>
          <a:prstGeom xmlns:a="http://schemas.openxmlformats.org/drawingml/2006/main" prst="roundRect">
            <a:avLst>
              <a:gd name="adj" fmla="val 7059"/>
            </a:avLst>
          </a:prstGeom>
          <a:solidFill xmlns:a="http://schemas.openxmlformats.org/drawingml/2006/main">
            <a:schemeClr val="bg2"/>
          </a:solidFill>
          <a:ln xmlns:a="http://schemas.openxmlformats.org/drawingml/2006/main" w="12700">
            <a:solidFill>
              <a:schemeClr val="bg2"/>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0">
            <a:extLst xmlns:a="http://schemas.openxmlformats.org/drawingml/2006/main">
              <a:ext uri="{FF2B5EF4-FFF2-40B4-BE49-F238E27FC236}">
                <a16:creationId xmlns:a16="http://schemas.microsoft.com/office/drawing/2014/main" id="{95D86413-23D7-4FD5-A044-72208F7C4EA0}"/>
              </a:ext>
            </a:extLst>
          </p:cNvPr>
          <p:cNvSpPr>
            <a:spLocks xmlns:a="http://schemas.openxmlformats.org/drawingml/2006/main" noGrp="1"/>
          </p:cNvSpPr>
          <p:nvPr/>
        </p:nvSpPr>
        <p:spPr>
          <a:xfrm xmlns:a="http://schemas.openxmlformats.org/drawingml/2006/main">
            <a:off x="6858000" y="2926080"/>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chemeClr val="accent2"/>
                </a:solidFill>
              </a:rPr>
              <a:t>Python</a:t>
            </a:r>
            <a:endParaRPr sz="2800"/>
          </a:p>
        </p:txBody>
      </p:sp>
      <p:sp>
        <p:nvSpPr>
          <p:cNvPr id="24" name="Text 21">
            <a:extLst xmlns:a="http://schemas.openxmlformats.org/drawingml/2006/main">
              <a:ext uri="{FF2B5EF4-FFF2-40B4-BE49-F238E27FC236}">
                <a16:creationId xmlns:a16="http://schemas.microsoft.com/office/drawing/2014/main" id="{69B4564C-F8CC-4D34-9EF6-B61B801EF647}"/>
              </a:ext>
            </a:extLst>
          </p:cNvPr>
          <p:cNvSpPr>
            <a:spLocks xmlns:a="http://schemas.openxmlformats.org/drawingml/2006/main" noGrp="1"/>
          </p:cNvSpPr>
          <p:nvPr/>
        </p:nvSpPr>
        <p:spPr>
          <a:xfrm xmlns:a="http://schemas.openxmlformats.org/drawingml/2006/main">
            <a:off x="6903720" y="3611880"/>
            <a:ext cx="16459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chemeClr val="tx1"/>
                </a:solidFill>
              </a:rPr>
              <a:t>desktop reports and D / S controls</a:t>
            </a:r>
            <a:endParaRPr sz="1400"/>
          </a:p>
        </p:txBody>
      </p:sp>
      <p:sp>
        <p:nvSpPr>
          <p:cNvPr id="25" name="Slide Number Placeholder 0">
            <a:extLst xmlns:a="http://schemas.openxmlformats.org/drawingml/2006/main">
              <a:ext uri="{FF2B5EF4-FFF2-40B4-BE49-F238E27FC236}">
                <a16:creationId xmlns:a16="http://schemas.microsoft.com/office/drawing/2014/main" id="{7C9672EA-81B8-47F7-B1CD-1AFDCC053099}"/>
              </a:ext>
            </a:extLst>
          </p:cNvPr>
          <p:cNvSpPr>
            <a:spLocks xmlns:a="http://schemas.openxmlformats.org/drawingml/2006/main" noGrp="1"/>
          </p:cNvSpPr>
          <p:nvPr>
            <p:ph type="sldNum" idx="4294967295"/>
          </p:nvPr>
        </p:nvSpPr>
        <p:spPr>
          <a:xfrm xmlns:a="http://schemas.openxmlformats.org/drawingml/2006/main">
            <a:off x="8321040" y="480060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6"/>
                </a:solidFill>
              </a:defRPr>
            </a:lvl1pPr>
          </a:lstStyle>
          <a:p xmlns:a="http://schemas.openxmlformats.org/drawingml/2006/main">
            <a:pPr algn="l">
              <a:buNone/>
            </a:pPr>
            <a:fld id="{BA58DA2A-B818-18A9-29C1-B697728D5BCE}" type="slidenum">
              <a:rPr b="0"/>
              <a:t>8</a:t>
            </a:fld>
            <a:endParaRPr/>
          </a:p>
        </p:txBody>
      </p:sp>
    </p:spTree>
    <p:extLst>
      <p:ext uri="{BB962C8B-B14F-4D97-AF65-F5344CB8AC3E}">
        <p14:creationId xmlns:p14="http://schemas.microsoft.com/office/powerpoint/2010/main" val="201536869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DC38E2-56A2-4EC3-9B78-91CA0603D9FA}"/>
              </a:ext>
            </a:extLst>
          </p:cNvPr>
          <p:cNvSpPr>
            <a:spLocks xmlns:a="http://schemas.openxmlformats.org/drawingml/2006/main" noGrp="1"/>
          </p:cNvSpPr>
          <p:nvPr/>
        </p:nvSpPr>
        <p:spPr>
          <a:xfrm xmlns:a="http://schemas.openxmlformats.org/drawingml/2006/main">
            <a:off x="548640" y="365760"/>
            <a:ext cx="80467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400" b="1">
                <a:solidFill>
                  <a:schemeClr val="bg1"/>
                </a:solidFill>
              </a:rPr>
              <a:t>Demonstration and current limits</a:t>
            </a:r>
            <a:endParaRPr sz="3400"/>
          </a:p>
        </p:txBody>
      </p:sp>
      <p:sp>
        <p:nvSpPr>
          <p:cNvPr id="4" name="Text 1">
            <a:extLst xmlns:a="http://schemas.openxmlformats.org/drawingml/2006/main">
              <a:ext uri="{FF2B5EF4-FFF2-40B4-BE49-F238E27FC236}">
                <a16:creationId xmlns:a16="http://schemas.microsoft.com/office/drawing/2014/main" id="{D81A9593-310E-49B0-B3C5-881DE227D61B}"/>
              </a:ext>
            </a:extLst>
          </p:cNvPr>
          <p:cNvSpPr>
            <a:spLocks xmlns:a="http://schemas.openxmlformats.org/drawingml/2006/main" noGrp="1"/>
          </p:cNvSpPr>
          <p:nvPr/>
        </p:nvSpPr>
        <p:spPr>
          <a:xfrm xmlns:a="http://schemas.openxmlformats.org/drawingml/2006/main">
            <a:off x="548640" y="1280160"/>
            <a:ext cx="3840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chemeClr val="accent1"/>
                </a:solidFill>
              </a:rPr>
              <a:t>Current limits</a:t>
            </a:r>
            <a:endParaRPr sz="2000"/>
          </a:p>
        </p:txBody>
      </p:sp>
      <p:sp>
        <p:nvSpPr>
          <p:cNvPr id="5" name="Text 2">
            <a:extLst xmlns:a="http://schemas.openxmlformats.org/drawingml/2006/main">
              <a:ext uri="{FF2B5EF4-FFF2-40B4-BE49-F238E27FC236}">
                <a16:creationId xmlns:a16="http://schemas.microsoft.com/office/drawing/2014/main" id="{872B14DE-DCBB-4B0D-9711-9A2A4CA39AF8}"/>
              </a:ext>
            </a:extLst>
          </p:cNvPr>
          <p:cNvSpPr>
            <a:spLocks xmlns:a="http://schemas.openxmlformats.org/drawingml/2006/main" noGrp="1"/>
          </p:cNvSpPr>
          <p:nvPr/>
        </p:nvSpPr>
        <p:spPr>
          <a:xfrm xmlns:a="http://schemas.openxmlformats.org/drawingml/2006/main">
            <a:off x="548640" y="1783080"/>
            <a:ext cx="38404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200"/>
              </a:spcAft>
              <a:buSzPct val="100000"/>
              <a:buChar char="•"/>
            </a:pPr>
            <a:r>
              <a:rPr sz="1600">
                <a:solidFill>
                  <a:schemeClr val="bg1"/>
                </a:solidFill>
              </a:rPr>
              <a:t>One ToF: range and stability only</a:t>
            </a:r>
            <a:endParaRPr sz="1600"/>
          </a:p>
          <a:p xmlns:a="http://schemas.openxmlformats.org/drawingml/2006/main">
            <a:pPr marL="342900" indent="-342900">
              <a:spcAft>
                <a:spcPts val="1200"/>
              </a:spcAft>
              <a:buSzPct val="100000"/>
              <a:buChar char="•"/>
            </a:pPr>
            <a:r>
              <a:rPr sz="1600">
                <a:solidFill>
                  <a:schemeClr val="bg1"/>
                </a:solidFill>
              </a:rPr>
              <a:t>Servo power and mechanical rig still needed</a:t>
            </a:r>
            <a:endParaRPr sz="1600"/>
          </a:p>
          <a:p xmlns:a="http://schemas.openxmlformats.org/drawingml/2006/main">
            <a:pPr marL="342900" indent="-342900">
              <a:spcAft>
                <a:spcPts val="1200"/>
              </a:spcAft>
              <a:buSzPct val="100000"/>
              <a:buChar char="•"/>
            </a:pPr>
            <a:r>
              <a:rPr sz="1600">
                <a:solidFill>
                  <a:schemeClr val="bg1"/>
                </a:solidFill>
              </a:rPr>
              <a:t>Simulation results do not validate real flight</a:t>
            </a:r>
            <a:endParaRPr sz="1600"/>
          </a:p>
        </p:txBody>
      </p:sp>
      <p:sp>
        <p:nvSpPr>
          <p:cNvPr id="6" name="demo">
            <a:extLst xmlns:a="http://schemas.openxmlformats.org/drawingml/2006/main">
              <a:ext uri="{FF2B5EF4-FFF2-40B4-BE49-F238E27FC236}">
                <a16:creationId xmlns:a16="http://schemas.microsoft.com/office/drawing/2014/main" id="{4AA30AD1-49D4-4E59-ABEE-C24567695619}"/>
              </a:ext>
            </a:extLst>
          </p:cNvPr>
          <p:cNvSpPr>
            <a:spLocks xmlns:a="http://schemas.openxmlformats.org/drawingml/2006/main" noGrp="1"/>
          </p:cNvSpPr>
          <p:nvPr/>
        </p:nvSpPr>
        <p:spPr>
          <a:xfrm xmlns:a="http://schemas.openxmlformats.org/drawingml/2006/main">
            <a:off x="4754880" y="1188720"/>
            <a:ext cx="3931920" cy="3383280"/>
          </a:xfrm>
          <a:prstGeom xmlns:a="http://schemas.openxmlformats.org/drawingml/2006/main" prst="roundRect">
            <a:avLst>
              <a:gd name="adj" fmla="val 3243"/>
            </a:avLst>
          </a:prstGeom>
          <a:solidFill xmlns:a="http://schemas.openxmlformats.org/drawingml/2006/main">
            <a:schemeClr val="tx2"/>
          </a:solidFill>
          <a:ln xmlns:a="http://schemas.openxmlformats.org/drawingml/2006/main" w="12700">
            <a:solidFill>
              <a:schemeClr val="tx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4">
            <a:extLst xmlns:a="http://schemas.openxmlformats.org/drawingml/2006/main">
              <a:ext uri="{FF2B5EF4-FFF2-40B4-BE49-F238E27FC236}">
                <a16:creationId xmlns:a16="http://schemas.microsoft.com/office/drawing/2014/main" id="{49D27AF3-18A8-465A-B942-DE9C0DFE6B55}"/>
              </a:ext>
            </a:extLst>
          </p:cNvPr>
          <p:cNvSpPr>
            <a:spLocks xmlns:a="http://schemas.openxmlformats.org/drawingml/2006/main" noGrp="1"/>
          </p:cNvSpPr>
          <p:nvPr/>
        </p:nvSpPr>
        <p:spPr>
          <a:xfrm xmlns:a="http://schemas.openxmlformats.org/drawingml/2006/main">
            <a:off x="4983480" y="1325880"/>
            <a:ext cx="3474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chemeClr val="accent1"/>
                </a:solidFill>
              </a:rPr>
              <a:t>Live demonstration</a:t>
            </a:r>
            <a:endParaRPr sz="2000"/>
          </a:p>
        </p:txBody>
      </p:sp>
      <p:sp>
        <p:nvSpPr>
          <p:cNvPr id="8" name="Shape 5">
            <a:extLst xmlns:a="http://schemas.openxmlformats.org/drawingml/2006/main">
              <a:ext uri="{FF2B5EF4-FFF2-40B4-BE49-F238E27FC236}">
                <a16:creationId xmlns:a16="http://schemas.microsoft.com/office/drawing/2014/main" id="{5A6A29F0-F974-4547-A0D5-A7C6ADD7EA3F}"/>
              </a:ext>
            </a:extLst>
          </p:cNvPr>
          <p:cNvSpPr>
            <a:spLocks xmlns:a="http://schemas.openxmlformats.org/drawingml/2006/main" noGrp="1"/>
          </p:cNvSpPr>
          <p:nvPr/>
        </p:nvSpPr>
        <p:spPr>
          <a:xfrm xmlns:a="http://schemas.openxmlformats.org/drawingml/2006/main">
            <a:off x="5006340" y="2034540"/>
            <a:ext cx="502920" cy="502920"/>
          </a:xfrm>
          <a:prstGeom xmlns:a="http://schemas.openxmlformats.org/drawingml/2006/main" prst="ellipse">
            <a:avLst/>
          </a:prstGeom>
          <a:solidFill xmlns:a="http://schemas.openxmlformats.org/drawingml/2006/main">
            <a:schemeClr val="accent4"/>
          </a:solidFill>
          <a:ln xmlns:a="http://schemas.openxmlformats.org/drawingml/2006/main" w="12700">
            <a:solidFill>
              <a:schemeClr val="accent4"/>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6">
            <a:extLst xmlns:a="http://schemas.openxmlformats.org/drawingml/2006/main">
              <a:ext uri="{FF2B5EF4-FFF2-40B4-BE49-F238E27FC236}">
                <a16:creationId xmlns:a16="http://schemas.microsoft.com/office/drawing/2014/main" id="{3055F52E-EFE9-4DC3-A959-F38E3924448D}"/>
              </a:ext>
            </a:extLst>
          </p:cNvPr>
          <p:cNvSpPr>
            <a:spLocks xmlns:a="http://schemas.openxmlformats.org/drawingml/2006/main" noGrp="1"/>
          </p:cNvSpPr>
          <p:nvPr/>
        </p:nvSpPr>
        <p:spPr>
          <a:xfrm xmlns:a="http://schemas.openxmlformats.org/drawingml/2006/main">
            <a:off x="5006340" y="20345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1</a:t>
            </a:r>
            <a:endParaRPr sz="1400"/>
          </a:p>
        </p:txBody>
      </p:sp>
      <p:sp>
        <p:nvSpPr>
          <p:cNvPr id="10" name="Text 7">
            <a:extLst xmlns:a="http://schemas.openxmlformats.org/drawingml/2006/main">
              <a:ext uri="{FF2B5EF4-FFF2-40B4-BE49-F238E27FC236}">
                <a16:creationId xmlns:a16="http://schemas.microsoft.com/office/drawing/2014/main" id="{91AEDB22-4AA8-4D89-88CF-2E2F79D136BE}"/>
              </a:ext>
            </a:extLst>
          </p:cNvPr>
          <p:cNvSpPr>
            <a:spLocks xmlns:a="http://schemas.openxmlformats.org/drawingml/2006/main" noGrp="1"/>
          </p:cNvSpPr>
          <p:nvPr/>
        </p:nvSpPr>
        <p:spPr>
          <a:xfrm xmlns:a="http://schemas.openxmlformats.org/drawingml/2006/main">
            <a:off x="5669280" y="1965960"/>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500"/>
            </a:defPPr>
          </a:lstStyle>
          <a:p xmlns:a="http://schemas.openxmlformats.org/drawingml/2006/main">
            <a:pPr marL="0" indent="0">
              <a:buNone/>
              <a:defRPr sz="1500"/>
            </a:pPr>
            <a:r>
              <a:rPr sz="1500" b="1">
                <a:solidFill>
                  <a:schemeClr val="bg1"/>
                </a:solidFill>
              </a:rPr>
              <a:t>Simulation: Alpha / Beta / Gamma</a:t>
            </a:r>
            <a:endParaRPr sz="1600"/>
          </a:p>
        </p:txBody>
      </p:sp>
      <p:sp>
        <p:nvSpPr>
          <p:cNvPr id="11" name="Text 8">
            <a:extLst xmlns:a="http://schemas.openxmlformats.org/drawingml/2006/main">
              <a:ext uri="{FF2B5EF4-FFF2-40B4-BE49-F238E27FC236}">
                <a16:creationId xmlns:a16="http://schemas.microsoft.com/office/drawing/2014/main" id="{3BFA272E-93F7-46F7-AD30-EA4560FC1720}"/>
              </a:ext>
            </a:extLst>
          </p:cNvPr>
          <p:cNvSpPr>
            <a:spLocks xmlns:a="http://schemas.openxmlformats.org/drawingml/2006/main" noGrp="1"/>
          </p:cNvSpPr>
          <p:nvPr/>
        </p:nvSpPr>
        <p:spPr>
          <a:xfrm xmlns:a="http://schemas.openxmlformats.org/drawingml/2006/main">
            <a:off x="5669280" y="2304288"/>
            <a:ext cx="2926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400"/>
            </a:defPPr>
          </a:lstStyle>
          <a:p xmlns:a="http://schemas.openxmlformats.org/drawingml/2006/main">
            <a:pPr marL="0" indent="0">
              <a:buNone/>
              <a:defRPr sz="1400"/>
            </a:pPr>
            <a:r>
              <a:rPr sz="1400">
                <a:solidFill>
                  <a:schemeClr val="accent5"/>
                </a:solidFill>
              </a:rPr>
              <a:t>terrain verdict and deployment</a:t>
            </a:r>
            <a:endParaRPr sz="1400"/>
          </a:p>
        </p:txBody>
      </p:sp>
      <p:sp>
        <p:nvSpPr>
          <p:cNvPr id="12" name="Shape 9">
            <a:extLst xmlns:a="http://schemas.openxmlformats.org/drawingml/2006/main">
              <a:ext uri="{FF2B5EF4-FFF2-40B4-BE49-F238E27FC236}">
                <a16:creationId xmlns:a16="http://schemas.microsoft.com/office/drawing/2014/main" id="{FDC66E93-A635-4028-8139-AE45E2E53B6C}"/>
              </a:ext>
            </a:extLst>
          </p:cNvPr>
          <p:cNvSpPr>
            <a:spLocks xmlns:a="http://schemas.openxmlformats.org/drawingml/2006/main" noGrp="1"/>
          </p:cNvSpPr>
          <p:nvPr/>
        </p:nvSpPr>
        <p:spPr>
          <a:xfrm xmlns:a="http://schemas.openxmlformats.org/drawingml/2006/main">
            <a:off x="5006340" y="2903220"/>
            <a:ext cx="502920" cy="502920"/>
          </a:xfrm>
          <a:prstGeom xmlns:a="http://schemas.openxmlformats.org/drawingml/2006/main" prst="ellipse">
            <a:avLst/>
          </a:prstGeom>
          <a:solidFill xmlns:a="http://schemas.openxmlformats.org/drawingml/2006/main">
            <a:schemeClr val="accent3"/>
          </a:solidFill>
          <a:ln xmlns:a="http://schemas.openxmlformats.org/drawingml/2006/main" w="12700">
            <a:solidFill>
              <a:schemeClr val="accent3"/>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65925BF0-10D2-4438-9080-0E8FAB210986}"/>
              </a:ext>
            </a:extLst>
          </p:cNvPr>
          <p:cNvSpPr>
            <a:spLocks xmlns:a="http://schemas.openxmlformats.org/drawingml/2006/main" noGrp="1"/>
          </p:cNvSpPr>
          <p:nvPr/>
        </p:nvSpPr>
        <p:spPr>
          <a:xfrm xmlns:a="http://schemas.openxmlformats.org/drawingml/2006/main">
            <a:off x="5006340" y="29032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2</a:t>
            </a:r>
            <a:endParaRPr sz="1400"/>
          </a:p>
        </p:txBody>
      </p:sp>
      <p:sp>
        <p:nvSpPr>
          <p:cNvPr id="14" name="Text 11">
            <a:extLst xmlns:a="http://schemas.openxmlformats.org/drawingml/2006/main">
              <a:ext uri="{FF2B5EF4-FFF2-40B4-BE49-F238E27FC236}">
                <a16:creationId xmlns:a16="http://schemas.microsoft.com/office/drawing/2014/main" id="{453AC2B6-67EE-4F64-A74C-50C886C6306E}"/>
              </a:ext>
            </a:extLst>
          </p:cNvPr>
          <p:cNvSpPr>
            <a:spLocks xmlns:a="http://schemas.openxmlformats.org/drawingml/2006/main" noGrp="1"/>
          </p:cNvSpPr>
          <p:nvPr/>
        </p:nvSpPr>
        <p:spPr>
          <a:xfrm xmlns:a="http://schemas.openxmlformats.org/drawingml/2006/main">
            <a:off x="5669280" y="2834640"/>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500"/>
            </a:defPPr>
          </a:lstStyle>
          <a:p xmlns:a="http://schemas.openxmlformats.org/drawingml/2006/main">
            <a:pPr marL="0" indent="0">
              <a:buNone/>
              <a:defRPr sz="1500"/>
            </a:pPr>
            <a:r>
              <a:rPr sz="1500" b="1">
                <a:solidFill>
                  <a:schemeClr val="bg1"/>
                </a:solidFill>
              </a:rPr>
              <a:t>Uno: level and steady target</a:t>
            </a:r>
            <a:endParaRPr sz="1600"/>
          </a:p>
        </p:txBody>
      </p:sp>
      <p:sp>
        <p:nvSpPr>
          <p:cNvPr id="15" name="Text 12">
            <a:extLst xmlns:a="http://schemas.openxmlformats.org/drawingml/2006/main">
              <a:ext uri="{FF2B5EF4-FFF2-40B4-BE49-F238E27FC236}">
                <a16:creationId xmlns:a16="http://schemas.microsoft.com/office/drawing/2014/main" id="{CEDFD8B6-ED38-45BB-8B47-4F21C3041B9C}"/>
              </a:ext>
            </a:extLst>
          </p:cNvPr>
          <p:cNvSpPr>
            <a:spLocks xmlns:a="http://schemas.openxmlformats.org/drawingml/2006/main" noGrp="1"/>
          </p:cNvSpPr>
          <p:nvPr/>
        </p:nvSpPr>
        <p:spPr>
          <a:xfrm xmlns:a="http://schemas.openxmlformats.org/drawingml/2006/main">
            <a:off x="5669280" y="3172968"/>
            <a:ext cx="2926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400"/>
            </a:defPPr>
          </a:lstStyle>
          <a:p xmlns:a="http://schemas.openxmlformats.org/drawingml/2006/main">
            <a:pPr marL="0" indent="0">
              <a:buNone/>
              <a:defRPr sz="1400"/>
            </a:pPr>
            <a:r>
              <a:rPr sz="1400">
                <a:solidFill>
                  <a:schemeClr val="accent5"/>
                </a:solidFill>
              </a:rPr>
              <a:t>wait for READY, send D</a:t>
            </a:r>
            <a:endParaRPr sz="1400"/>
          </a:p>
        </p:txBody>
      </p:sp>
      <p:sp>
        <p:nvSpPr>
          <p:cNvPr id="16" name="Shape 13">
            <a:extLst xmlns:a="http://schemas.openxmlformats.org/drawingml/2006/main">
              <a:ext uri="{FF2B5EF4-FFF2-40B4-BE49-F238E27FC236}">
                <a16:creationId xmlns:a16="http://schemas.microsoft.com/office/drawing/2014/main" id="{4D1C30B2-D4AA-45B2-B58E-B622689B4433}"/>
              </a:ext>
            </a:extLst>
          </p:cNvPr>
          <p:cNvSpPr>
            <a:spLocks xmlns:a="http://schemas.openxmlformats.org/drawingml/2006/main" noGrp="1"/>
          </p:cNvSpPr>
          <p:nvPr/>
        </p:nvSpPr>
        <p:spPr>
          <a:xfrm xmlns:a="http://schemas.openxmlformats.org/drawingml/2006/main">
            <a:off x="5006340" y="3771900"/>
            <a:ext cx="502920" cy="502920"/>
          </a:xfrm>
          <a:prstGeom xmlns:a="http://schemas.openxmlformats.org/drawingml/2006/main" prst="ellipse">
            <a:avLst/>
          </a:prstGeom>
          <a:solidFill xmlns:a="http://schemas.openxmlformats.org/drawingml/2006/main">
            <a:schemeClr val="accent3"/>
          </a:solidFill>
          <a:ln xmlns:a="http://schemas.openxmlformats.org/drawingml/2006/main" w="12700">
            <a:solidFill>
              <a:schemeClr val="accent3"/>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91392351-D4E5-4295-BA10-85A61D4A7EBA}"/>
              </a:ext>
            </a:extLst>
          </p:cNvPr>
          <p:cNvSpPr>
            <a:spLocks xmlns:a="http://schemas.openxmlformats.org/drawingml/2006/main" noGrp="1"/>
          </p:cNvSpPr>
          <p:nvPr/>
        </p:nvSpPr>
        <p:spPr>
          <a:xfrm xmlns:a="http://schemas.openxmlformats.org/drawingml/2006/main">
            <a:off x="5006340" y="37719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3</a:t>
            </a:r>
            <a:endParaRPr sz="1400"/>
          </a:p>
        </p:txBody>
      </p:sp>
      <p:sp>
        <p:nvSpPr>
          <p:cNvPr id="18" name="Text 15">
            <a:extLst xmlns:a="http://schemas.openxmlformats.org/drawingml/2006/main">
              <a:ext uri="{FF2B5EF4-FFF2-40B4-BE49-F238E27FC236}">
                <a16:creationId xmlns:a16="http://schemas.microsoft.com/office/drawing/2014/main" id="{6C6D7937-AEEA-4924-BBEA-7084CF848ABA}"/>
              </a:ext>
            </a:extLst>
          </p:cNvPr>
          <p:cNvSpPr>
            <a:spLocks xmlns:a="http://schemas.openxmlformats.org/drawingml/2006/main" noGrp="1"/>
          </p:cNvSpPr>
          <p:nvPr/>
        </p:nvSpPr>
        <p:spPr>
          <a:xfrm xmlns:a="http://schemas.openxmlformats.org/drawingml/2006/main">
            <a:off x="5669280" y="3703320"/>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500"/>
            </a:defPPr>
          </a:lstStyle>
          <a:p xmlns:a="http://schemas.openxmlformats.org/drawingml/2006/main">
            <a:pPr marL="0" indent="0">
              <a:buNone/>
              <a:defRPr sz="1500"/>
            </a:pPr>
            <a:r>
              <a:rPr sz="1500" b="1">
                <a:solidFill>
                  <a:schemeClr val="bg1"/>
                </a:solidFill>
              </a:rPr>
              <a:t>Move target or tilt the IMU</a:t>
            </a:r>
            <a:endParaRPr sz="1600"/>
          </a:p>
        </p:txBody>
      </p:sp>
      <p:sp>
        <p:nvSpPr>
          <p:cNvPr id="19" name="Text 16">
            <a:extLst xmlns:a="http://schemas.openxmlformats.org/drawingml/2006/main">
              <a:ext uri="{FF2B5EF4-FFF2-40B4-BE49-F238E27FC236}">
                <a16:creationId xmlns:a16="http://schemas.microsoft.com/office/drawing/2014/main" id="{E4FDA8F3-ADCB-4C6A-AD3E-4D64C61BB59C}"/>
              </a:ext>
            </a:extLst>
          </p:cNvPr>
          <p:cNvSpPr>
            <a:spLocks xmlns:a="http://schemas.openxmlformats.org/drawingml/2006/main" noGrp="1"/>
          </p:cNvSpPr>
          <p:nvPr/>
        </p:nvSpPr>
        <p:spPr>
          <a:xfrm xmlns:a="http://schemas.openxmlformats.org/drawingml/2006/main">
            <a:off x="5669280" y="4041648"/>
            <a:ext cx="2926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400"/>
            </a:defPPr>
          </a:lstStyle>
          <a:p xmlns:a="http://schemas.openxmlformats.org/drawingml/2006/main">
            <a:pPr marL="0" indent="0">
              <a:buNone/>
              <a:defRPr sz="1400"/>
            </a:pPr>
            <a:r>
              <a:rPr sz="1400">
                <a:solidFill>
                  <a:schemeClr val="accent5"/>
                </a:solidFill>
              </a:rPr>
              <a:t>warning, gear held, S retracts</a:t>
            </a:r>
            <a:endParaRPr sz="1400"/>
          </a:p>
        </p:txBody>
      </p:sp>
      <p:sp>
        <p:nvSpPr>
          <p:cNvPr id="25" name="Slide Number Placeholder 0">
            <a:extLst xmlns:a="http://schemas.openxmlformats.org/drawingml/2006/main">
              <a:ext uri="{FF2B5EF4-FFF2-40B4-BE49-F238E27FC236}">
                <a16:creationId xmlns:a16="http://schemas.microsoft.com/office/drawing/2014/main" id="{4732F02F-84D1-46B4-A2C6-276E5FCF4F39}"/>
              </a:ext>
            </a:extLst>
          </p:cNvPr>
          <p:cNvSpPr>
            <a:spLocks xmlns:a="http://schemas.openxmlformats.org/drawingml/2006/main" noGrp="1"/>
          </p:cNvSpPr>
          <p:nvPr>
            <p:ph type="sldNum" idx="4294967295"/>
          </p:nvPr>
        </p:nvSpPr>
        <p:spPr>
          <a:xfrm xmlns:a="http://schemas.openxmlformats.org/drawingml/2006/main">
            <a:off x="8321040" y="480060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defRPr>
            </a:lvl1pPr>
          </a:lstStyle>
          <a:p xmlns:a="http://schemas.openxmlformats.org/drawingml/2006/main">
            <a:pPr algn="l">
              <a:buNone/>
            </a:pPr>
            <a:fld id="{388657AE-30A1-5A7A-6A7F-315D84436430}" type="slidenum">
              <a:rPr b="0"/>
              <a:t>9</a:t>
            </a:fld>
            <a:endParaRPr/>
          </a:p>
        </p:txBody>
      </p:sp>
    </p:spTree>
    <p:extLst>
      <p:ext uri="{BB962C8B-B14F-4D97-AF65-F5344CB8AC3E}">
        <p14:creationId xmlns:p14="http://schemas.microsoft.com/office/powerpoint/2010/main" val="674590704"/>
      </p:ext>
    </p:extLst>
  </p:cSld>
</p:sld>
</file>

<file path=ppt/theme/theme1.xml><?xml version="1.0" encoding="utf-8"?>
<a:theme xmlns:a="http://schemas.openxmlformats.org/drawingml/2006/main" name="LandingGear">
  <a:themeElements>
    <a:clrScheme name="LandingGear">
      <a:dk1>
        <a:srgbClr val="0B1F2A"/>
      </a:dk1>
      <a:lt1>
        <a:srgbClr val="FFFFFF"/>
      </a:lt1>
      <a:dk2>
        <a:srgbClr val="12384A"/>
      </a:dk2>
      <a:lt2>
        <a:srgbClr val="EAF1F4"/>
      </a:lt2>
      <a:accent1>
        <a:srgbClr val="F2A541"/>
      </a:accent1>
      <a:accent2>
        <a:srgbClr val="1F7A8C"/>
      </a:accent2>
      <a:accent3>
        <a:srgbClr val="C8553D"/>
      </a:accent3>
      <a:accent4>
        <a:srgbClr val="4E8F6E"/>
      </a:accent4>
      <a:accent5>
        <a:srgbClr val="8AA6B1"/>
      </a:accent5>
      <a:accent6>
        <a:srgbClr val="3D5A6C"/>
      </a:accent6>
      <a:hlink>
        <a:srgbClr val="1F7A8C"/>
      </a:hlink>
      <a:folHlink>
        <a:srgbClr val="3D5A6C"/>
      </a:folHlink>
    </a:clrScheme>
    <a:fontScheme name="LandingGe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LandingGear">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2026-10-12T11:04:11.6900000Z</dcterms:created>
  <dcterms:modified xsi:type="dcterms:W3CDTF">2026-10-12T11:04:11.6900000Z</dcterms:modified>
</coreProperties>
</file>